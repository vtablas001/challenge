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3.xml" ContentType="application/vnd.openxmlformats-officedocument.drawingml.chart+xml"/>
  <Override PartName="/ppt/notesSlides/notesSlide18.xml" ContentType="application/vnd.openxmlformats-officedocument.presentationml.notesSlide+xml"/>
  <Override PartName="/ppt/charts/chart4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1" r:id="rId4"/>
    <p:sldId id="262" r:id="rId5"/>
    <p:sldId id="260" r:id="rId6"/>
    <p:sldId id="263" r:id="rId7"/>
    <p:sldId id="264" r:id="rId8"/>
    <p:sldId id="266" r:id="rId9"/>
    <p:sldId id="265" r:id="rId10"/>
    <p:sldId id="259" r:id="rId11"/>
    <p:sldId id="267" r:id="rId12"/>
    <p:sldId id="268" r:id="rId13"/>
    <p:sldId id="269" r:id="rId14"/>
    <p:sldId id="270" r:id="rId15"/>
    <p:sldId id="271" r:id="rId16"/>
    <p:sldId id="274" r:id="rId17"/>
    <p:sldId id="275" r:id="rId18"/>
    <p:sldId id="276" r:id="rId19"/>
    <p:sldId id="277" r:id="rId20"/>
    <p:sldId id="280" r:id="rId21"/>
    <p:sldId id="279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43137" autoAdjust="0"/>
  </p:normalViewPr>
  <p:slideViewPr>
    <p:cSldViewPr snapToGrid="0" snapToObjects="1">
      <p:cViewPr varScale="1">
        <p:scale>
          <a:sx n="39" d="100"/>
          <a:sy n="39" d="100"/>
        </p:scale>
        <p:origin x="231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θ = 0,3</c:v>
                </c:pt>
              </c:strCache>
            </c:strRef>
          </c:tx>
          <c:spPr>
            <a:ln w="31750" cap="flat">
              <a:solidFill>
                <a:srgbClr val="A79E93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79E93"/>
              </a:solidFill>
              <a:ln w="9525" cap="flat">
                <a:solidFill>
                  <a:srgbClr val="A79E93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Sem 0</c:v>
                </c:pt>
                <c:pt idx="1">
                  <c:v>Sem 1</c:v>
                </c:pt>
                <c:pt idx="2">
                  <c:v>Sem 2</c:v>
                </c:pt>
                <c:pt idx="3">
                  <c:v>Sem 3</c:v>
                </c:pt>
                <c:pt idx="4">
                  <c:v>Sem 4</c:v>
                </c:pt>
                <c:pt idx="5">
                  <c:v>Sem 5</c:v>
                </c:pt>
                <c:pt idx="6">
                  <c:v>Sem 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30</c:v>
                </c:pt>
                <c:pt idx="2">
                  <c:v>9</c:v>
                </c:pt>
                <c:pt idx="3">
                  <c:v>2.7</c:v>
                </c:pt>
                <c:pt idx="4">
                  <c:v>0.8</c:v>
                </c:pt>
                <c:pt idx="5">
                  <c:v>0.2</c:v>
                </c:pt>
                <c:pt idx="6">
                  <c:v>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C1-4867-AC97-5333702FEC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θ = 0,5</c:v>
                </c:pt>
              </c:strCache>
            </c:strRef>
          </c:tx>
          <c:spPr>
            <a:ln w="31750" cap="flat">
              <a:solidFill>
                <a:srgbClr val="41545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41545E"/>
              </a:solidFill>
              <a:ln w="9525" cap="flat">
                <a:solidFill>
                  <a:srgbClr val="41545E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Sem 0</c:v>
                </c:pt>
                <c:pt idx="1">
                  <c:v>Sem 1</c:v>
                </c:pt>
                <c:pt idx="2">
                  <c:v>Sem 2</c:v>
                </c:pt>
                <c:pt idx="3">
                  <c:v>Sem 3</c:v>
                </c:pt>
                <c:pt idx="4">
                  <c:v>Sem 4</c:v>
                </c:pt>
                <c:pt idx="5">
                  <c:v>Sem 5</c:v>
                </c:pt>
                <c:pt idx="6">
                  <c:v>Sem 6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50</c:v>
                </c:pt>
                <c:pt idx="2">
                  <c:v>25</c:v>
                </c:pt>
                <c:pt idx="3">
                  <c:v>12.5</c:v>
                </c:pt>
                <c:pt idx="4">
                  <c:v>6.2</c:v>
                </c:pt>
                <c:pt idx="5">
                  <c:v>3.1</c:v>
                </c:pt>
                <c:pt idx="6">
                  <c:v>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C1-4867-AC97-5333702FECD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θ = 0,7</c:v>
                </c:pt>
              </c:strCache>
            </c:strRef>
          </c:tx>
          <c:spPr>
            <a:ln w="31750" cap="flat">
              <a:solidFill>
                <a:srgbClr val="C8912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8912F"/>
              </a:solidFill>
              <a:ln w="9525" cap="flat">
                <a:solidFill>
                  <a:srgbClr val="C8912F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Sem 0</c:v>
                </c:pt>
                <c:pt idx="1">
                  <c:v>Sem 1</c:v>
                </c:pt>
                <c:pt idx="2">
                  <c:v>Sem 2</c:v>
                </c:pt>
                <c:pt idx="3">
                  <c:v>Sem 3</c:v>
                </c:pt>
                <c:pt idx="4">
                  <c:v>Sem 4</c:v>
                </c:pt>
                <c:pt idx="5">
                  <c:v>Sem 5</c:v>
                </c:pt>
                <c:pt idx="6">
                  <c:v>Sem 6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100</c:v>
                </c:pt>
                <c:pt idx="1">
                  <c:v>70</c:v>
                </c:pt>
                <c:pt idx="2">
                  <c:v>49</c:v>
                </c:pt>
                <c:pt idx="3">
                  <c:v>34.299999999999997</c:v>
                </c:pt>
                <c:pt idx="4">
                  <c:v>24</c:v>
                </c:pt>
                <c:pt idx="5">
                  <c:v>16.8</c:v>
                </c:pt>
                <c:pt idx="6">
                  <c:v>11.8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C1-4867-AC97-5333702FEC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5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2DCD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E655B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6E655B"/>
                    </a:solidFill>
                    <a:latin typeface="Calibri"/>
                  </a:rPr>
                  <a:t>% del efecto aún activo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55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2B252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α = 1</c:v>
                </c:pt>
              </c:strCache>
            </c:strRef>
          </c:tx>
          <c:spPr>
            <a:ln w="31750" cap="flat">
              <a:solidFill>
                <a:srgbClr val="41545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2">
                  <c:v>0,5γ</c:v>
                </c:pt>
                <c:pt idx="4">
                  <c:v>γ</c:v>
                </c:pt>
                <c:pt idx="6">
                  <c:v>1,5γ</c:v>
                </c:pt>
                <c:pt idx="8">
                  <c:v>2γ</c:v>
                </c:pt>
                <c:pt idx="10">
                  <c:v>2,5γ</c:v>
                </c:pt>
                <c:pt idx="12">
                  <c:v>3γ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20</c:v>
                </c:pt>
                <c:pt idx="2">
                  <c:v>33.299999999999997</c:v>
                </c:pt>
                <c:pt idx="3">
                  <c:v>42.9</c:v>
                </c:pt>
                <c:pt idx="4">
                  <c:v>50</c:v>
                </c:pt>
                <c:pt idx="5">
                  <c:v>55.6</c:v>
                </c:pt>
                <c:pt idx="6">
                  <c:v>60</c:v>
                </c:pt>
                <c:pt idx="7">
                  <c:v>63.6</c:v>
                </c:pt>
                <c:pt idx="8">
                  <c:v>66.7</c:v>
                </c:pt>
                <c:pt idx="9">
                  <c:v>69.2</c:v>
                </c:pt>
                <c:pt idx="10">
                  <c:v>71.400000000000006</c:v>
                </c:pt>
                <c:pt idx="11">
                  <c:v>73.3</c:v>
                </c:pt>
                <c:pt idx="12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E05-46D2-8FC8-1BAE1C0230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α = 2</c:v>
                </c:pt>
              </c:strCache>
            </c:strRef>
          </c:tx>
          <c:spPr>
            <a:ln w="31750" cap="flat">
              <a:solidFill>
                <a:srgbClr val="C8912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2">
                  <c:v>0,5γ</c:v>
                </c:pt>
                <c:pt idx="4">
                  <c:v>γ</c:v>
                </c:pt>
                <c:pt idx="6">
                  <c:v>1,5γ</c:v>
                </c:pt>
                <c:pt idx="8">
                  <c:v>2γ</c:v>
                </c:pt>
                <c:pt idx="10">
                  <c:v>2,5γ</c:v>
                </c:pt>
                <c:pt idx="12">
                  <c:v>3γ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5.9</c:v>
                </c:pt>
                <c:pt idx="2">
                  <c:v>20</c:v>
                </c:pt>
                <c:pt idx="3">
                  <c:v>36</c:v>
                </c:pt>
                <c:pt idx="4">
                  <c:v>50</c:v>
                </c:pt>
                <c:pt idx="5">
                  <c:v>61</c:v>
                </c:pt>
                <c:pt idx="6">
                  <c:v>69.2</c:v>
                </c:pt>
                <c:pt idx="7">
                  <c:v>75.400000000000006</c:v>
                </c:pt>
                <c:pt idx="8">
                  <c:v>80</c:v>
                </c:pt>
                <c:pt idx="9">
                  <c:v>83.5</c:v>
                </c:pt>
                <c:pt idx="10">
                  <c:v>86.2</c:v>
                </c:pt>
                <c:pt idx="11">
                  <c:v>88.3</c:v>
                </c:pt>
                <c:pt idx="12">
                  <c:v>90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E05-46D2-8FC8-1BAE1C0230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E655B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6E655B"/>
                    </a:solidFill>
                    <a:latin typeface="Calibri"/>
                  </a:rPr>
                  <a:t>Presión publicitaria acumulada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5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2DCD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E655B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6E655B"/>
                    </a:solidFill>
                    <a:latin typeface="Calibri"/>
                  </a:rPr>
                  <a:t>% del efecto máximo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55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2B252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Entrenamiento (dentro de muestra)</c:v>
                </c:pt>
              </c:strCache>
            </c:strRef>
          </c:tx>
          <c:spPr>
            <a:solidFill>
              <a:srgbClr val="41545E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2B252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Venta base</c:v>
                </c:pt>
                <c:pt idx="1">
                  <c:v>Medios sin transformar</c:v>
                </c:pt>
                <c:pt idx="2">
                  <c:v>MMM estándar</c:v>
                </c:pt>
                <c:pt idx="3">
                  <c:v>MMM calibrado</c:v>
                </c:pt>
                <c:pt idx="4">
                  <c:v>MMM calibrado + rezago 52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0.57799999999999996</c:v>
                </c:pt>
                <c:pt idx="1">
                  <c:v>0.57599999999999996</c:v>
                </c:pt>
                <c:pt idx="2">
                  <c:v>0.57999999999999996</c:v>
                </c:pt>
                <c:pt idx="3">
                  <c:v>0.57899999999999996</c:v>
                </c:pt>
                <c:pt idx="4">
                  <c:v>0.80600000000000005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E6C-48C2-ACB9-200576FF44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Prueba (fuera de muestra)</c:v>
                </c:pt>
              </c:strCache>
            </c:strRef>
          </c:tx>
          <c:spPr>
            <a:solidFill>
              <a:srgbClr val="C8912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2B252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Venta base</c:v>
                </c:pt>
                <c:pt idx="1">
                  <c:v>Medios sin transformar</c:v>
                </c:pt>
                <c:pt idx="2">
                  <c:v>MMM estándar</c:v>
                </c:pt>
                <c:pt idx="3">
                  <c:v>MMM calibrado</c:v>
                </c:pt>
                <c:pt idx="4">
                  <c:v>MMM calibrado + rezago 52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0.629</c:v>
                </c:pt>
                <c:pt idx="1">
                  <c:v>0.54700000000000004</c:v>
                </c:pt>
                <c:pt idx="2">
                  <c:v>0.54800000000000004</c:v>
                </c:pt>
                <c:pt idx="3">
                  <c:v>0.65</c:v>
                </c:pt>
                <c:pt idx="4">
                  <c:v>0.86199999999999999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E6C-48C2-ACB9-200576FF444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-1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5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2DCD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55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2B252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Venta base</c:v>
                </c:pt>
              </c:strCache>
            </c:strRef>
          </c:tx>
          <c:spPr>
            <a:ln w="38100" cap="flat">
              <a:solidFill>
                <a:srgbClr val="A79E93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A79E93"/>
              </a:solidFill>
              <a:ln w="9525" cap="flat">
                <a:solidFill>
                  <a:srgbClr val="A79E93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V1: 24/05 a 12/07</c:v>
                </c:pt>
                <c:pt idx="1">
                  <c:v>V2: 19/07 a 06/09</c:v>
                </c:pt>
                <c:pt idx="2">
                  <c:v>V3: 13/09 a 01/11</c:v>
                </c:pt>
                <c:pt idx="3">
                  <c:v>V4: 08/11 a 27/12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0.57599999999999996</c:v>
                </c:pt>
                <c:pt idx="1">
                  <c:v>0.61699999999999999</c:v>
                </c:pt>
                <c:pt idx="2">
                  <c:v>0.64600000000000002</c:v>
                </c:pt>
                <c:pt idx="3">
                  <c:v>0.66100000000000003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17-442F-9F95-DCF2343927D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MMM estándar</c:v>
                </c:pt>
              </c:strCache>
            </c:strRef>
          </c:tx>
          <c:spPr>
            <a:ln w="38100" cap="flat">
              <a:solidFill>
                <a:srgbClr val="41545E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41545E"/>
              </a:solidFill>
              <a:ln w="9525" cap="flat">
                <a:solidFill>
                  <a:srgbClr val="41545E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V1: 24/05 a 12/07</c:v>
                </c:pt>
                <c:pt idx="1">
                  <c:v>V2: 19/07 a 06/09</c:v>
                </c:pt>
                <c:pt idx="2">
                  <c:v>V3: 13/09 a 01/11</c:v>
                </c:pt>
                <c:pt idx="3">
                  <c:v>V4: 08/11 a 27/12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0.56200000000000006</c:v>
                </c:pt>
                <c:pt idx="1">
                  <c:v>0.53500000000000003</c:v>
                </c:pt>
                <c:pt idx="2">
                  <c:v>0.61299999999999999</c:v>
                </c:pt>
                <c:pt idx="3">
                  <c:v>0.57499999999999996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17-442F-9F95-DCF2343927D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MMM calibrado</c:v>
                </c:pt>
              </c:strCache>
            </c:strRef>
          </c:tx>
          <c:spPr>
            <a:ln w="38100" cap="flat">
              <a:solidFill>
                <a:srgbClr val="C8912F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C8912F"/>
              </a:solidFill>
              <a:ln w="9525" cap="flat">
                <a:solidFill>
                  <a:srgbClr val="C8912F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V1: 24/05 a 12/07</c:v>
                </c:pt>
                <c:pt idx="1">
                  <c:v>V2: 19/07 a 06/09</c:v>
                </c:pt>
                <c:pt idx="2">
                  <c:v>V3: 13/09 a 01/11</c:v>
                </c:pt>
                <c:pt idx="3">
                  <c:v>V4: 08/11 a 27/12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0.61299999999999999</c:v>
                </c:pt>
                <c:pt idx="1">
                  <c:v>0.66100000000000003</c:v>
                </c:pt>
                <c:pt idx="2">
                  <c:v>0.65400000000000003</c:v>
                </c:pt>
                <c:pt idx="3">
                  <c:v>0.67300000000000004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917-442F-9F95-DCF2343927D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MMM calibrado + rezago 52</c:v>
                </c:pt>
              </c:strCache>
            </c:strRef>
          </c:tx>
          <c:spPr>
            <a:ln w="38100" cap="flat">
              <a:solidFill>
                <a:srgbClr val="1C1714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C1714"/>
              </a:solidFill>
              <a:ln w="9525" cap="flat">
                <a:solidFill>
                  <a:srgbClr val="1C1714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V1: 24/05 a 12/07</c:v>
                </c:pt>
                <c:pt idx="1">
                  <c:v>V2: 19/07 a 06/09</c:v>
                </c:pt>
                <c:pt idx="2">
                  <c:v>V3: 13/09 a 01/11</c:v>
                </c:pt>
                <c:pt idx="3">
                  <c:v>V4: 08/11 a 27/12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0.80100000000000005</c:v>
                </c:pt>
                <c:pt idx="1">
                  <c:v>0.83399999999999996</c:v>
                </c:pt>
                <c:pt idx="2">
                  <c:v>0.874</c:v>
                </c:pt>
                <c:pt idx="3">
                  <c:v>0.91100000000000003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0917-442F-9F95-DCF2343927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E65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12700" cap="flat">
              <a:solidFill>
                <a:srgbClr val="E2DCD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55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2B252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1843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escrita para el CMO. Las comparaciones de peso entre variables salen de los coeficientes estandarizados (lámina de respaldo): distribución 0,263, temperatura 0,123 y Facebook 0,048, el medio más fuerte. Comparan variaciones de tamaño habitual en cada variable, no un peso invertido contra un punto de cobertura. Confianza alta: significativo al 1 % y estable entre especificaciones. Media: significativo, con intervalo amplio o sensible a la especificación. El 3 % es la mejora de RMSE del MMM frente al modelo sin medios, no la participación de los medios en el volumen.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Gráfica del notebook (volumen y facturación por marca, agregados por semana). Estas diferencias de escala son las que capturan los efectos fijos de marca: frente a Marca C, D tiene +544 % y F +447 % de volumen base. La lectura sobre Marca E es visual: su facturación se separa de A y B sin que su volumen lo haga, lo que es consistente con un precio por hectolitro mayor; confirmarlo requiere datos de precio. Marca F concentra también la mayor dispersión: 13 % de sus semanas supera el límite superior del rango intercuartílico.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estacionalidad es la señal más fuerte del panel: el pronóstico ingenuo t-52 alcanza R² de 0,784 en prueba. Por eso el modelo predictivo incorpora el rezago anual. La caída abrupta en la última semana del gráfico conviene verificarla: puede ser un registro incompleto. Evitar citar el máximo de 50.000 hL del notebook: esa gráfica traza filas individuales, no el total semanal.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diagnóstico de faltantes y validación posintegración del notebook. La tabla de contexto tiene 2.088 filas (261 semanas por 8 regiones); eventos y feriados solo tienen 360 filas observadas. La validación posintegración confirma las mismas 39.721 filas y los mismos totales de volumen y facturación que la tabla de ventas, sin llaves duplicadas. La imputación por mediana usa solo el período de calibración para no filtrar información de validación o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de la prueba ADF de la celda de diagnóstico: todas las variables del modelo rechazan raíz unitaria con p &lt; 0,01; ingreso regional no la rechaza (p = 0,43). Si un revisor técnico pregunta: la prueba se aplicó sobre la serie completa del panel. Aplicada por combinación marca-región-subcanal, el volumen es estacionario en 109 de 144 series (76 %). Ese riesgo residual queda controlado por los efectos fijos y la validación fuera de muestra, donde una relación espuria no se sostiene. Una prueba para paneles heterogéneos (Im, Pesaran y Shin, 2003) es el paso siguiente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correlaciones salen de la matriz ejecutada del notebook. El texto del notebook indica que Twitter y temperatura son las más altas (0,09); la salida muestra distribución ponderada con 0,17. Corregir ese párrafo antes de compartir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central: con facturación, el precio omitido entra mecánicamente en la variable dependiente; con volumen, es un problema clásico de variable omitida (Wooldridge, 2020). Reconocer el costo ante el CMO: el volumen identifica qué mueve la demanda, pero no mide valor. Por eso la cuarta fase del plan incorpora precio.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Notación del notebook: α sin subíndice es el intercepto y α_b, α_r, α_s los efectos fijos; α_j, con subíndice de medio, es la forma de la curva de Hill. Primero se aplica el adstock y luego la saturación. S_j toma valores entre 0 y 1, por lo que η_j es el efecto del recorrido completo de la curva. Se usa log1p porque conserva las semanas con cero hectolitros.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separación temporal es lo primero que un equipo técnico va a auditar. Dejarla explícita desde el inicio.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 de las transformaciones: primero el adstock acumula la inversión con su memoria, después la saturación convierte esa presión acumulada en respuesta. Las curvas son ilustrativas y usan la misma forma funcional del modelo: A(t) = M(t) + θ·A(t−1) y S(A) = A^α / (A^α + γ^α). En ambas curvas de saturación, A = γ produce exactamente 50 % del efecto máximo. Los valores de cada canal están en la lámina </a:t>
            </a:r>
            <a:r>
              <a:rPr lang="en-US" dirty="0" err="1"/>
              <a:t>siguiente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de 5% fijado ex ante es lo que impide elegir el modelo después de ver el resultado. Vale la pena </a:t>
            </a:r>
            <a:r>
              <a:rPr lang="en-US" dirty="0" err="1"/>
              <a:t>señalarlo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Curvas construidas con los parámetros calibrados del notebook (θ, α y γ por canal) y la posición reciente A/γ que reporta la celda de saturación. Vida media del efecto: ln(0,5)/ln(θ), 0,6 semanas con θ = 0,3; 1 semana con θ = 0,5; 1,9 semanas con θ = 0,7. La posición en la curva describe la transformación, no el retorno: estar cerca del techo no obliga a recortar, pero sí indica que un peso </a:t>
            </a:r>
            <a:r>
              <a:rPr lang="en-US" dirty="0" err="1"/>
              <a:t>adicional</a:t>
            </a:r>
            <a:r>
              <a:rPr lang="en-US" dirty="0"/>
              <a:t> </a:t>
            </a:r>
            <a:r>
              <a:rPr lang="en-US" dirty="0" err="1"/>
              <a:t>probablemente</a:t>
            </a:r>
            <a:r>
              <a:rPr lang="en-US" dirty="0"/>
              <a:t> </a:t>
            </a:r>
            <a:r>
              <a:rPr lang="en-US" dirty="0" err="1"/>
              <a:t>rinda</a:t>
            </a:r>
            <a:r>
              <a:rPr lang="en-US" dirty="0"/>
              <a:t> poco. La </a:t>
            </a:r>
            <a:r>
              <a:rPr lang="en-US" dirty="0" err="1"/>
              <a:t>decisión</a:t>
            </a:r>
            <a:r>
              <a:rPr lang="en-US" dirty="0"/>
              <a:t> </a:t>
            </a:r>
            <a:r>
              <a:rPr lang="en-US" dirty="0" err="1"/>
              <a:t>requiere</a:t>
            </a:r>
            <a:r>
              <a:rPr lang="en-US" dirty="0"/>
              <a:t> </a:t>
            </a:r>
            <a:r>
              <a:rPr lang="en-US" dirty="0" err="1"/>
              <a:t>además</a:t>
            </a:r>
            <a:r>
              <a:rPr lang="en-US" dirty="0"/>
              <a:t> el </a:t>
            </a:r>
            <a:r>
              <a:rPr lang="en-US" dirty="0" err="1"/>
              <a:t>coeficiente</a:t>
            </a:r>
            <a:r>
              <a:rPr lang="en-US" dirty="0"/>
              <a:t>,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incertidumbre</a:t>
            </a:r>
            <a:r>
              <a:rPr lang="en-US" dirty="0"/>
              <a:t> y el </a:t>
            </a:r>
            <a:r>
              <a:rPr lang="en-US" dirty="0" err="1"/>
              <a:t>costo</a:t>
            </a:r>
            <a:r>
              <a:rPr lang="en-US" dirty="0"/>
              <a:t>. Instagram y radio </a:t>
            </a:r>
            <a:r>
              <a:rPr lang="en-US" dirty="0" err="1"/>
              <a:t>aparecen</a:t>
            </a:r>
            <a:r>
              <a:rPr lang="en-US" dirty="0"/>
              <a:t> </a:t>
            </a:r>
            <a:r>
              <a:rPr lang="en-US" dirty="0" err="1"/>
              <a:t>saturados</a:t>
            </a:r>
            <a:r>
              <a:rPr lang="en-US" dirty="0"/>
              <a:t>,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coeficiente</a:t>
            </a:r>
            <a:r>
              <a:rPr lang="en-US" dirty="0"/>
              <a:t> no es </a:t>
            </a:r>
            <a:r>
              <a:rPr lang="en-US" dirty="0" err="1"/>
              <a:t>significativo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la </a:t>
            </a:r>
            <a:r>
              <a:rPr lang="en-US" dirty="0" err="1"/>
              <a:t>izquierda</a:t>
            </a:r>
            <a:r>
              <a:rPr lang="en-US" dirty="0"/>
              <a:t> </a:t>
            </a:r>
            <a:r>
              <a:rPr lang="en-US" dirty="0" err="1"/>
              <a:t>vemos</a:t>
            </a:r>
            <a:r>
              <a:rPr lang="en-US" dirty="0"/>
              <a:t> </a:t>
            </a:r>
            <a:r>
              <a:rPr lang="en-US" dirty="0" err="1"/>
              <a:t>cuánto</a:t>
            </a:r>
            <a:r>
              <a:rPr lang="en-US" dirty="0"/>
              <a:t> dura el </a:t>
            </a:r>
            <a:r>
              <a:rPr lang="en-US" dirty="0" err="1"/>
              <a:t>recuerdo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campaña</a:t>
            </a:r>
            <a:r>
              <a:rPr lang="en-US" dirty="0"/>
              <a:t>: </a:t>
            </a:r>
            <a:r>
              <a:rPr lang="en-US" dirty="0" err="1"/>
              <a:t>en</a:t>
            </a:r>
            <a:r>
              <a:rPr lang="en-US" dirty="0"/>
              <a:t> Facebook, YouTube y TV local se </a:t>
            </a:r>
            <a:r>
              <a:rPr lang="en-US" dirty="0" err="1"/>
              <a:t>apaga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, </a:t>
            </a:r>
            <a:r>
              <a:rPr lang="en-US" dirty="0" err="1"/>
              <a:t>en</a:t>
            </a:r>
            <a:r>
              <a:rPr lang="en-US" dirty="0"/>
              <a:t> Instagram y radio dura </a:t>
            </a:r>
            <a:r>
              <a:rPr lang="en-US" dirty="0" err="1"/>
              <a:t>más</a:t>
            </a:r>
            <a:r>
              <a:rPr lang="en-US" dirty="0"/>
              <a:t>. A la </a:t>
            </a:r>
            <a:r>
              <a:rPr lang="en-US" dirty="0" err="1"/>
              <a:t>derecha</a:t>
            </a:r>
            <a:r>
              <a:rPr lang="en-US" dirty="0"/>
              <a:t>, </a:t>
            </a:r>
            <a:r>
              <a:rPr lang="en-US" dirty="0" err="1"/>
              <a:t>qué</a:t>
            </a:r>
            <a:r>
              <a:rPr lang="en-US" dirty="0"/>
              <a:t> tan </a:t>
            </a:r>
            <a:r>
              <a:rPr lang="en-US" dirty="0" err="1"/>
              <a:t>lleno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el </a:t>
            </a:r>
            <a:r>
              <a:rPr lang="en-US" dirty="0" err="1"/>
              <a:t>vaso</a:t>
            </a:r>
            <a:r>
              <a:rPr lang="en-US" dirty="0"/>
              <a:t> de </a:t>
            </a:r>
            <a:r>
              <a:rPr lang="en-US" dirty="0" err="1"/>
              <a:t>cada</a:t>
            </a:r>
            <a:r>
              <a:rPr lang="en-US" dirty="0"/>
              <a:t> canal. Facebook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casi</a:t>
            </a:r>
            <a:r>
              <a:rPr lang="en-US" dirty="0"/>
              <a:t> </a:t>
            </a:r>
            <a:r>
              <a:rPr lang="en-US" dirty="0" err="1"/>
              <a:t>lleno</a:t>
            </a:r>
            <a:r>
              <a:rPr lang="en-US" dirty="0"/>
              <a:t>: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inversión</a:t>
            </a:r>
            <a:r>
              <a:rPr lang="en-US" dirty="0"/>
              <a:t> ahí </a:t>
            </a:r>
            <a:r>
              <a:rPr lang="en-US" dirty="0" err="1"/>
              <a:t>rinde</a:t>
            </a:r>
            <a:r>
              <a:rPr lang="en-US" dirty="0"/>
              <a:t> poco. TV local,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cambio</a:t>
            </a:r>
            <a:r>
              <a:rPr lang="en-US" dirty="0"/>
              <a:t>, </a:t>
            </a:r>
            <a:r>
              <a:rPr lang="en-US" dirty="0" err="1"/>
              <a:t>está</a:t>
            </a:r>
            <a:r>
              <a:rPr lang="en-US" dirty="0"/>
              <a:t> al 30 % y con </a:t>
            </a:r>
            <a:r>
              <a:rPr lang="en-US" dirty="0" err="1"/>
              <a:t>evidencia</a:t>
            </a:r>
            <a:r>
              <a:rPr lang="en-US" dirty="0"/>
              <a:t> de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funciona</a:t>
            </a:r>
            <a:r>
              <a:rPr lang="en-US" dirty="0"/>
              <a:t>. Por </a:t>
            </a:r>
            <a:r>
              <a:rPr lang="en-US" dirty="0" err="1"/>
              <a:t>eso</a:t>
            </a:r>
            <a:r>
              <a:rPr lang="en-US" dirty="0"/>
              <a:t> es el primer </a:t>
            </a:r>
            <a:r>
              <a:rPr lang="en-US" dirty="0" err="1"/>
              <a:t>candidato</a:t>
            </a:r>
            <a:r>
              <a:rPr lang="en-US" dirty="0"/>
              <a:t> para </a:t>
            </a:r>
            <a:r>
              <a:rPr lang="en-US" dirty="0" err="1"/>
              <a:t>probar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inversión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lvl="0" rtl="0"/>
            <a:r>
              <a:rPr lang="en-US" dirty="0" err="1"/>
              <a:t>Todas</a:t>
            </a:r>
            <a:r>
              <a:rPr lang="en-US" dirty="0"/>
              <a:t> las </a:t>
            </a:r>
            <a:r>
              <a:rPr lang="en-US" dirty="0" err="1"/>
              <a:t>líneas</a:t>
            </a:r>
            <a:r>
              <a:rPr lang="en-US" dirty="0"/>
              <a:t> </a:t>
            </a:r>
            <a:r>
              <a:rPr lang="en-US" dirty="0" err="1"/>
              <a:t>arrancan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100 %: es la </a:t>
            </a:r>
            <a:r>
              <a:rPr lang="en-US" dirty="0" err="1"/>
              <a:t>fuerza</a:t>
            </a:r>
            <a:r>
              <a:rPr lang="en-US" dirty="0"/>
              <a:t> de la </a:t>
            </a:r>
            <a:r>
              <a:rPr lang="en-US" dirty="0" err="1"/>
              <a:t>campaña</a:t>
            </a:r>
            <a:r>
              <a:rPr lang="en-US" dirty="0"/>
              <a:t> la </a:t>
            </a:r>
            <a:r>
              <a:rPr lang="en-US" dirty="0" err="1"/>
              <a:t>semana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sale al </a:t>
            </a:r>
            <a:r>
              <a:rPr lang="en-US" dirty="0" err="1"/>
              <a:t>aire</a:t>
            </a:r>
            <a:r>
              <a:rPr lang="en-US" dirty="0"/>
              <a:t>.</a:t>
            </a:r>
          </a:p>
          <a:p>
            <a:pPr lvl="0" rtl="0"/>
            <a:endParaRPr lang="en-US" dirty="0"/>
          </a:p>
          <a:p>
            <a:pPr lvl="0" rtl="0"/>
            <a:r>
              <a:rPr lang="en-US" dirty="0"/>
              <a:t>Cada </a:t>
            </a:r>
            <a:r>
              <a:rPr lang="en-US" dirty="0" err="1"/>
              <a:t>línea</a:t>
            </a:r>
            <a:r>
              <a:rPr lang="en-US" dirty="0"/>
              <a:t> </a:t>
            </a:r>
            <a:r>
              <a:rPr lang="en-US" dirty="0" err="1"/>
              <a:t>muestra</a:t>
            </a:r>
            <a:r>
              <a:rPr lang="en-US" dirty="0"/>
              <a:t> </a:t>
            </a:r>
            <a:r>
              <a:rPr lang="en-US" dirty="0" err="1"/>
              <a:t>cuánto</a:t>
            </a:r>
            <a:r>
              <a:rPr lang="en-US" dirty="0"/>
              <a:t> de </a:t>
            </a:r>
            <a:r>
              <a:rPr lang="en-US" dirty="0" err="1"/>
              <a:t>esa</a:t>
            </a:r>
            <a:r>
              <a:rPr lang="en-US" dirty="0"/>
              <a:t> </a:t>
            </a:r>
            <a:r>
              <a:rPr lang="en-US" dirty="0" err="1"/>
              <a:t>fuerza</a:t>
            </a:r>
            <a:r>
              <a:rPr lang="en-US" dirty="0"/>
              <a:t> </a:t>
            </a:r>
            <a:r>
              <a:rPr lang="en-US" dirty="0" err="1"/>
              <a:t>sigue</a:t>
            </a:r>
            <a:r>
              <a:rPr lang="en-US" dirty="0"/>
              <a:t> viva </a:t>
            </a:r>
            <a:r>
              <a:rPr lang="en-US" dirty="0" err="1"/>
              <a:t>en</a:t>
            </a:r>
            <a:r>
              <a:rPr lang="en-US" dirty="0"/>
              <a:t> las </a:t>
            </a:r>
            <a:r>
              <a:rPr lang="en-US" dirty="0" err="1"/>
              <a:t>semanas</a:t>
            </a:r>
            <a:r>
              <a:rPr lang="en-US" dirty="0"/>
              <a:t> </a:t>
            </a:r>
            <a:r>
              <a:rPr lang="en-US" dirty="0" err="1"/>
              <a:t>siguientes</a:t>
            </a:r>
            <a:r>
              <a:rPr lang="en-US" dirty="0"/>
              <a:t>.</a:t>
            </a:r>
          </a:p>
          <a:p>
            <a:pPr lvl="0" rtl="0"/>
            <a:endParaRPr lang="en-US" b="1" dirty="0"/>
          </a:p>
          <a:p>
            <a:pPr lvl="0" rtl="0"/>
            <a:r>
              <a:rPr lang="en-US" b="1" dirty="0" err="1"/>
              <a:t>Cuanto</a:t>
            </a:r>
            <a:r>
              <a:rPr lang="en-US" b="1" dirty="0"/>
              <a:t> </a:t>
            </a:r>
            <a:r>
              <a:rPr lang="en-US" b="1" dirty="0" err="1"/>
              <a:t>más</a:t>
            </a:r>
            <a:r>
              <a:rPr lang="en-US" b="1" dirty="0"/>
              <a:t> </a:t>
            </a:r>
            <a:r>
              <a:rPr lang="en-US" b="1" dirty="0" err="1"/>
              <a:t>rápido</a:t>
            </a:r>
            <a:r>
              <a:rPr lang="en-US" b="1" dirty="0"/>
              <a:t> </a:t>
            </a:r>
            <a:r>
              <a:rPr lang="en-US" b="1" dirty="0" err="1"/>
              <a:t>cae</a:t>
            </a:r>
            <a:r>
              <a:rPr lang="en-US" b="1" dirty="0"/>
              <a:t> la </a:t>
            </a:r>
            <a:r>
              <a:rPr lang="en-US" b="1" dirty="0" err="1"/>
              <a:t>línea</a:t>
            </a:r>
            <a:r>
              <a:rPr lang="en-US" b="1" dirty="0"/>
              <a:t>, </a:t>
            </a:r>
            <a:r>
              <a:rPr lang="en-US" b="1" dirty="0" err="1"/>
              <a:t>más</a:t>
            </a:r>
            <a:r>
              <a:rPr lang="en-US" b="1" dirty="0"/>
              <a:t> </a:t>
            </a:r>
            <a:r>
              <a:rPr lang="en-US" b="1" dirty="0" err="1"/>
              <a:t>corta</a:t>
            </a:r>
            <a:r>
              <a:rPr lang="en-US" b="1" dirty="0"/>
              <a:t> es la memoria del canal.</a:t>
            </a:r>
            <a:endParaRPr lang="en-US" dirty="0"/>
          </a:p>
          <a:p>
            <a:pPr rtl="0"/>
            <a:endParaRPr lang="en-US" b="1" dirty="0"/>
          </a:p>
          <a:p>
            <a:pPr rtl="0"/>
            <a:r>
              <a:rPr lang="en-US" b="1" dirty="0" err="1"/>
              <a:t>Qué</a:t>
            </a:r>
            <a:r>
              <a:rPr lang="en-US" b="1" dirty="0"/>
              <a:t> dice:</a:t>
            </a:r>
            <a:endParaRPr lang="en-US" dirty="0"/>
          </a:p>
          <a:p>
            <a:pPr lvl="0" rtl="0"/>
            <a:r>
              <a:rPr lang="en-US" b="1" dirty="0"/>
              <a:t>Facebook, YouTube, TV local y video digital</a:t>
            </a:r>
            <a:r>
              <a:rPr lang="en-US" dirty="0"/>
              <a:t> (</a:t>
            </a:r>
            <a:r>
              <a:rPr lang="en-US" dirty="0" err="1"/>
              <a:t>línea</a:t>
            </a:r>
            <a:r>
              <a:rPr lang="en-US" dirty="0"/>
              <a:t> gris): el </a:t>
            </a:r>
            <a:r>
              <a:rPr lang="en-US" dirty="0" err="1"/>
              <a:t>efecto</a:t>
            </a:r>
            <a:r>
              <a:rPr lang="en-US" dirty="0"/>
              <a:t> se </a:t>
            </a:r>
            <a:r>
              <a:rPr lang="en-US" dirty="0" err="1"/>
              <a:t>apaga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. En </a:t>
            </a:r>
            <a:r>
              <a:rPr lang="en-US" dirty="0" err="1"/>
              <a:t>menos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semana</a:t>
            </a:r>
            <a:r>
              <a:rPr lang="en-US" dirty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perdió</a:t>
            </a:r>
            <a:r>
              <a:rPr lang="en-US" dirty="0"/>
              <a:t> la </a:t>
            </a:r>
            <a:r>
              <a:rPr lang="en-US" dirty="0" err="1"/>
              <a:t>mitad</a:t>
            </a:r>
            <a:r>
              <a:rPr lang="en-US" dirty="0"/>
              <a:t>. Son canales de </a:t>
            </a:r>
            <a:r>
              <a:rPr lang="en-US" dirty="0" err="1"/>
              <a:t>impacto</a:t>
            </a:r>
            <a:r>
              <a:rPr lang="en-US" dirty="0"/>
              <a:t> </a:t>
            </a:r>
            <a:r>
              <a:rPr lang="en-US" dirty="0" err="1"/>
              <a:t>inmediato</a:t>
            </a:r>
            <a:r>
              <a:rPr lang="en-US" dirty="0"/>
              <a:t>.</a:t>
            </a:r>
          </a:p>
          <a:p>
            <a:pPr lvl="0" rtl="0"/>
            <a:r>
              <a:rPr lang="en-US" b="1" dirty="0"/>
              <a:t>TV </a:t>
            </a:r>
            <a:r>
              <a:rPr lang="en-US" b="1" dirty="0" err="1"/>
              <a:t>abierta</a:t>
            </a:r>
            <a:r>
              <a:rPr lang="en-US" b="1" dirty="0"/>
              <a:t> y TV de </a:t>
            </a:r>
            <a:r>
              <a:rPr lang="en-US" b="1" dirty="0" err="1"/>
              <a:t>pago</a:t>
            </a:r>
            <a:r>
              <a:rPr lang="en-US" dirty="0"/>
              <a:t> (</a:t>
            </a:r>
            <a:r>
              <a:rPr lang="en-US" dirty="0" err="1"/>
              <a:t>línea</a:t>
            </a:r>
            <a:r>
              <a:rPr lang="en-US" dirty="0"/>
              <a:t> </a:t>
            </a:r>
            <a:r>
              <a:rPr lang="en-US" dirty="0" err="1"/>
              <a:t>azul</a:t>
            </a:r>
            <a:r>
              <a:rPr lang="en-US" dirty="0"/>
              <a:t>): la </a:t>
            </a:r>
            <a:r>
              <a:rPr lang="en-US" dirty="0" err="1"/>
              <a:t>mitad</a:t>
            </a:r>
            <a:r>
              <a:rPr lang="en-US" dirty="0"/>
              <a:t> del </a:t>
            </a:r>
            <a:r>
              <a:rPr lang="en-US" dirty="0" err="1"/>
              <a:t>efecto</a:t>
            </a:r>
            <a:r>
              <a:rPr lang="en-US" dirty="0"/>
              <a:t> dura </a:t>
            </a:r>
            <a:r>
              <a:rPr lang="en-US" dirty="0" err="1"/>
              <a:t>alrededor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semana</a:t>
            </a:r>
            <a:r>
              <a:rPr lang="en-US" dirty="0"/>
              <a:t>.</a:t>
            </a:r>
          </a:p>
          <a:p>
            <a:pPr lvl="0" rtl="0"/>
            <a:r>
              <a:rPr lang="en-US" b="1" dirty="0"/>
              <a:t>Instagram y radio</a:t>
            </a:r>
            <a:r>
              <a:rPr lang="en-US" dirty="0"/>
              <a:t> (</a:t>
            </a:r>
            <a:r>
              <a:rPr lang="en-US" dirty="0" err="1"/>
              <a:t>línea</a:t>
            </a:r>
            <a:r>
              <a:rPr lang="en-US" dirty="0"/>
              <a:t> </a:t>
            </a:r>
            <a:r>
              <a:rPr lang="en-US" dirty="0" err="1"/>
              <a:t>dorada</a:t>
            </a:r>
            <a:r>
              <a:rPr lang="en-US" dirty="0"/>
              <a:t>): el </a:t>
            </a:r>
            <a:r>
              <a:rPr lang="en-US" dirty="0" err="1"/>
              <a:t>recuerdo</a:t>
            </a:r>
            <a:r>
              <a:rPr lang="en-US" dirty="0"/>
              <a:t> dura </a:t>
            </a:r>
            <a:r>
              <a:rPr lang="en-US" dirty="0" err="1"/>
              <a:t>más</a:t>
            </a:r>
            <a:r>
              <a:rPr lang="en-US" dirty="0"/>
              <a:t>. </a:t>
            </a:r>
            <a:r>
              <a:rPr lang="en-US" dirty="0" err="1"/>
              <a:t>Tardan</a:t>
            </a:r>
            <a:r>
              <a:rPr lang="en-US" dirty="0"/>
              <a:t> </a:t>
            </a:r>
            <a:r>
              <a:rPr lang="en-US" dirty="0" err="1"/>
              <a:t>unas</a:t>
            </a:r>
            <a:r>
              <a:rPr lang="en-US" dirty="0"/>
              <a:t> dos </a:t>
            </a:r>
            <a:r>
              <a:rPr lang="en-US" dirty="0" err="1"/>
              <a:t>semanas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perder</a:t>
            </a:r>
            <a:r>
              <a:rPr lang="en-US" dirty="0"/>
              <a:t> la </a:t>
            </a:r>
            <a:r>
              <a:rPr lang="en-US" dirty="0" err="1"/>
              <a:t>mitad</a:t>
            </a:r>
            <a:r>
              <a:rPr lang="en-US" dirty="0"/>
              <a:t> y al </a:t>
            </a:r>
            <a:r>
              <a:rPr lang="en-US" dirty="0" err="1"/>
              <a:t>cabo</a:t>
            </a:r>
            <a:r>
              <a:rPr lang="en-US" dirty="0"/>
              <a:t> de un </a:t>
            </a:r>
            <a:r>
              <a:rPr lang="en-US" dirty="0" err="1"/>
              <a:t>mes</a:t>
            </a:r>
            <a:r>
              <a:rPr lang="en-US" dirty="0"/>
              <a:t> </a:t>
            </a:r>
            <a:r>
              <a:rPr lang="en-US" dirty="0" err="1"/>
              <a:t>todavía</a:t>
            </a:r>
            <a:r>
              <a:rPr lang="en-US" dirty="0"/>
              <a:t> </a:t>
            </a:r>
            <a:r>
              <a:rPr lang="en-US" dirty="0" err="1"/>
              <a:t>queda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cuarta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.</a:t>
            </a:r>
          </a:p>
          <a:p>
            <a:pPr rtl="0"/>
            <a:r>
              <a:rPr lang="en-US" b="1" dirty="0"/>
              <a:t>Para </a:t>
            </a:r>
            <a:r>
              <a:rPr lang="en-US" b="1" dirty="0" err="1"/>
              <a:t>qué</a:t>
            </a:r>
            <a:r>
              <a:rPr lang="en-US" b="1" dirty="0"/>
              <a:t> </a:t>
            </a:r>
            <a:r>
              <a:rPr lang="en-US" b="1" dirty="0" err="1"/>
              <a:t>sirve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canales de memoria </a:t>
            </a:r>
            <a:r>
              <a:rPr lang="en-US" dirty="0" err="1"/>
              <a:t>corta</a:t>
            </a:r>
            <a:r>
              <a:rPr lang="en-US" dirty="0"/>
              <a:t> </a:t>
            </a:r>
            <a:r>
              <a:rPr lang="en-US" dirty="0" err="1"/>
              <a:t>necesitan</a:t>
            </a:r>
            <a:r>
              <a:rPr lang="en-US" dirty="0"/>
              <a:t> </a:t>
            </a:r>
            <a:r>
              <a:rPr lang="en-US" dirty="0" err="1"/>
              <a:t>presencia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continua; </a:t>
            </a:r>
            <a:r>
              <a:rPr lang="en-US" dirty="0" err="1"/>
              <a:t>los</a:t>
            </a:r>
            <a:r>
              <a:rPr lang="en-US" dirty="0"/>
              <a:t> de memoria </a:t>
            </a:r>
            <a:r>
              <a:rPr lang="en-US" dirty="0" err="1"/>
              <a:t>larga</a:t>
            </a:r>
            <a:r>
              <a:rPr lang="en-US" dirty="0"/>
              <a:t> </a:t>
            </a:r>
            <a:r>
              <a:rPr lang="en-US" dirty="0" err="1"/>
              <a:t>permiten</a:t>
            </a:r>
            <a:r>
              <a:rPr lang="en-US" dirty="0"/>
              <a:t> </a:t>
            </a:r>
            <a:r>
              <a:rPr lang="en-US" dirty="0" err="1"/>
              <a:t>espaciar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las </a:t>
            </a:r>
            <a:r>
              <a:rPr lang="en-US" dirty="0" err="1"/>
              <a:t>campañas</a:t>
            </a:r>
            <a:r>
              <a:rPr lang="en-US" dirty="0"/>
              <a:t>.</a:t>
            </a:r>
          </a:p>
          <a:p>
            <a:pPr rtl="0"/>
            <a:r>
              <a:rPr lang="en-US" b="1" dirty="0" err="1"/>
              <a:t>Gráficos</a:t>
            </a:r>
            <a:r>
              <a:rPr lang="en-US" b="1" dirty="0"/>
              <a:t> de la </a:t>
            </a:r>
            <a:r>
              <a:rPr lang="en-US" b="1" dirty="0" err="1"/>
              <a:t>derecha</a:t>
            </a:r>
            <a:r>
              <a:rPr lang="en-US" b="1" dirty="0"/>
              <a:t>: el </a:t>
            </a:r>
            <a:r>
              <a:rPr lang="en-US" b="1" dirty="0" err="1"/>
              <a:t>margen</a:t>
            </a:r>
            <a:r>
              <a:rPr lang="en-US" b="1" dirty="0"/>
              <a:t> para </a:t>
            </a:r>
            <a:r>
              <a:rPr lang="en-US" b="1" dirty="0" err="1"/>
              <a:t>crecer</a:t>
            </a:r>
            <a:endParaRPr lang="en-US" b="1" dirty="0"/>
          </a:p>
          <a:p>
            <a:pPr rtl="0"/>
            <a:r>
              <a:rPr lang="en-US" b="1" dirty="0"/>
              <a:t>La idea:</a:t>
            </a:r>
            <a:r>
              <a:rPr lang="en-US" dirty="0"/>
              <a:t> </a:t>
            </a:r>
            <a:r>
              <a:rPr lang="en-US" dirty="0" err="1"/>
              <a:t>invertir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canal es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llenar</a:t>
            </a:r>
            <a:r>
              <a:rPr lang="en-US" dirty="0"/>
              <a:t> un </a:t>
            </a:r>
            <a:r>
              <a:rPr lang="en-US" dirty="0" err="1"/>
              <a:t>vaso</a:t>
            </a:r>
            <a:r>
              <a:rPr lang="en-US" dirty="0"/>
              <a:t>. Los primeros pesos </a:t>
            </a:r>
            <a:r>
              <a:rPr lang="en-US" dirty="0" err="1"/>
              <a:t>rinden</a:t>
            </a:r>
            <a:r>
              <a:rPr lang="en-US" dirty="0"/>
              <a:t> </a:t>
            </a:r>
            <a:r>
              <a:rPr lang="en-US" dirty="0" err="1"/>
              <a:t>mucho</a:t>
            </a:r>
            <a:r>
              <a:rPr lang="en-US" dirty="0"/>
              <a:t>, </a:t>
            </a:r>
            <a:r>
              <a:rPr lang="en-US" dirty="0" err="1"/>
              <a:t>pero</a:t>
            </a:r>
            <a:r>
              <a:rPr lang="en-US" dirty="0"/>
              <a:t> a </a:t>
            </a:r>
            <a:r>
              <a:rPr lang="en-US" dirty="0" err="1"/>
              <a:t>medida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el </a:t>
            </a:r>
            <a:r>
              <a:rPr lang="en-US" dirty="0" err="1"/>
              <a:t>vaso</a:t>
            </a:r>
            <a:r>
              <a:rPr lang="en-US" dirty="0"/>
              <a:t> se </a:t>
            </a:r>
            <a:r>
              <a:rPr lang="en-US" dirty="0" err="1"/>
              <a:t>llena</a:t>
            </a:r>
            <a:r>
              <a:rPr lang="en-US" dirty="0"/>
              <a:t>, </a:t>
            </a:r>
            <a:r>
              <a:rPr lang="en-US" dirty="0" err="1"/>
              <a:t>cada</a:t>
            </a:r>
            <a:r>
              <a:rPr lang="en-US" dirty="0"/>
              <a:t> peso </a:t>
            </a:r>
            <a:r>
              <a:rPr lang="en-US" dirty="0" err="1"/>
              <a:t>adicional</a:t>
            </a:r>
            <a:r>
              <a:rPr lang="en-US" dirty="0"/>
              <a:t> </a:t>
            </a:r>
            <a:r>
              <a:rPr lang="en-US" dirty="0" err="1"/>
              <a:t>aporta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, hasta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ya</a:t>
            </a:r>
            <a:r>
              <a:rPr lang="en-US" dirty="0"/>
              <a:t> no </a:t>
            </a:r>
            <a:r>
              <a:rPr lang="en-US" dirty="0" err="1"/>
              <a:t>entra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Estas</a:t>
            </a:r>
            <a:r>
              <a:rPr lang="en-US" dirty="0"/>
              <a:t> </a:t>
            </a:r>
            <a:r>
              <a:rPr lang="en-US" dirty="0" err="1"/>
              <a:t>cifras</a:t>
            </a:r>
            <a:r>
              <a:rPr lang="en-US" dirty="0"/>
              <a:t> </a:t>
            </a:r>
            <a:r>
              <a:rPr lang="en-US" dirty="0" err="1"/>
              <a:t>salen</a:t>
            </a:r>
            <a:r>
              <a:rPr lang="en-US" dirty="0"/>
              <a:t> de </a:t>
            </a:r>
            <a:r>
              <a:rPr lang="en-US" dirty="0" err="1"/>
              <a:t>correr</a:t>
            </a:r>
            <a:r>
              <a:rPr lang="en-US" dirty="0"/>
              <a:t> la </a:t>
            </a:r>
            <a:r>
              <a:rPr lang="en-US" dirty="0" err="1"/>
              <a:t>inversión</a:t>
            </a:r>
            <a:r>
              <a:rPr lang="en-US" dirty="0"/>
              <a:t> real de </a:t>
            </a:r>
            <a:r>
              <a:rPr lang="en-US" dirty="0" err="1"/>
              <a:t>cada</a:t>
            </a:r>
            <a:r>
              <a:rPr lang="en-US" dirty="0"/>
              <a:t> canal a </a:t>
            </a:r>
            <a:r>
              <a:rPr lang="en-US" dirty="0" err="1"/>
              <a:t>través</a:t>
            </a:r>
            <a:r>
              <a:rPr lang="en-US" dirty="0"/>
              <a:t> de dos </a:t>
            </a:r>
            <a:r>
              <a:rPr lang="en-US" dirty="0" err="1"/>
              <a:t>fórmulas</a:t>
            </a:r>
            <a:r>
              <a:rPr lang="en-US" dirty="0"/>
              <a:t>, canal </a:t>
            </a:r>
            <a:r>
              <a:rPr lang="en-US" dirty="0" err="1"/>
              <a:t>por</a:t>
            </a:r>
            <a:r>
              <a:rPr lang="en-US" dirty="0"/>
              <a:t> canal.</a:t>
            </a:r>
          </a:p>
          <a:p>
            <a:pPr rtl="0"/>
            <a:endParaRPr lang="en-US" dirty="0"/>
          </a:p>
          <a:p>
            <a:pPr rtl="0"/>
            <a:r>
              <a:rPr lang="en-US" dirty="0"/>
              <a:t>Primero </a:t>
            </a:r>
            <a:r>
              <a:rPr lang="en-US" dirty="0" err="1"/>
              <a:t>calibré</a:t>
            </a:r>
            <a:r>
              <a:rPr lang="en-US" dirty="0"/>
              <a:t> la memoria de </a:t>
            </a:r>
            <a:r>
              <a:rPr lang="en-US" dirty="0" err="1"/>
              <a:t>cada</a:t>
            </a:r>
            <a:r>
              <a:rPr lang="en-US" dirty="0"/>
              <a:t> canal. Para </a:t>
            </a:r>
            <a:r>
              <a:rPr lang="en-US" dirty="0" err="1"/>
              <a:t>cada</a:t>
            </a:r>
            <a:r>
              <a:rPr lang="en-US" dirty="0"/>
              <a:t> uno de </a:t>
            </a:r>
            <a:r>
              <a:rPr lang="en-US" dirty="0" err="1"/>
              <a:t>los</a:t>
            </a:r>
            <a:r>
              <a:rPr lang="en-US" dirty="0"/>
              <a:t> 8 </a:t>
            </a:r>
            <a:r>
              <a:rPr lang="en-US" dirty="0" err="1"/>
              <a:t>medios</a:t>
            </a:r>
            <a:r>
              <a:rPr lang="en-US" dirty="0"/>
              <a:t>, se </a:t>
            </a:r>
            <a:r>
              <a:rPr lang="en-US" dirty="0" err="1"/>
              <a:t>probó</a:t>
            </a:r>
            <a:r>
              <a:rPr lang="en-US" dirty="0"/>
              <a:t> 18 </a:t>
            </a:r>
            <a:r>
              <a:rPr lang="en-US" dirty="0" err="1"/>
              <a:t>combinaciones</a:t>
            </a:r>
            <a:r>
              <a:rPr lang="en-US" dirty="0"/>
              <a:t> </a:t>
            </a:r>
            <a:r>
              <a:rPr lang="en-US" dirty="0" err="1"/>
              <a:t>distintas</a:t>
            </a:r>
            <a:r>
              <a:rPr lang="en-US" dirty="0"/>
              <a:t> de '</a:t>
            </a:r>
            <a:r>
              <a:rPr lang="en-US" dirty="0" err="1"/>
              <a:t>cuánto</a:t>
            </a:r>
            <a:r>
              <a:rPr lang="en-US" dirty="0"/>
              <a:t> dura el </a:t>
            </a:r>
            <a:r>
              <a:rPr lang="en-US" dirty="0" err="1"/>
              <a:t>efecto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campaña</a:t>
            </a:r>
            <a:r>
              <a:rPr lang="en-US" dirty="0"/>
              <a:t>' y me </a:t>
            </a:r>
            <a:r>
              <a:rPr lang="en-US" dirty="0" err="1"/>
              <a:t>quedé</a:t>
            </a:r>
            <a:r>
              <a:rPr lang="en-US" dirty="0"/>
              <a:t> con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mejor</a:t>
            </a:r>
            <a:r>
              <a:rPr lang="en-US" dirty="0"/>
              <a:t> </a:t>
            </a:r>
            <a:r>
              <a:rPr lang="en-US" dirty="0" err="1"/>
              <a:t>predijo</a:t>
            </a:r>
            <a:r>
              <a:rPr lang="en-US" dirty="0"/>
              <a:t> las </a:t>
            </a:r>
            <a:r>
              <a:rPr lang="en-US" dirty="0" err="1"/>
              <a:t>ventas</a:t>
            </a:r>
            <a:r>
              <a:rPr lang="en-US" dirty="0"/>
              <a:t> reales. </a:t>
            </a:r>
          </a:p>
          <a:p>
            <a:pPr rtl="0"/>
            <a:endParaRPr lang="en-US" dirty="0"/>
          </a:p>
          <a:p>
            <a:pPr rtl="0"/>
            <a:r>
              <a:rPr lang="en-US" dirty="0"/>
              <a:t>Se </a:t>
            </a:r>
            <a:r>
              <a:rPr lang="en-US" dirty="0" err="1"/>
              <a:t>combinaron</a:t>
            </a:r>
            <a:r>
              <a:rPr lang="en-US" dirty="0"/>
              <a:t> </a:t>
            </a:r>
            <a:r>
              <a:rPr lang="en-US" dirty="0" err="1"/>
              <a:t>tres</a:t>
            </a:r>
            <a:r>
              <a:rPr lang="en-US" dirty="0"/>
              <a:t> </a:t>
            </a:r>
            <a:r>
              <a:rPr lang="en-US" dirty="0" err="1"/>
              <a:t>parámetros</a:t>
            </a:r>
            <a:r>
              <a:rPr lang="en-US" dirty="0"/>
              <a:t>, </a:t>
            </a:r>
            <a:r>
              <a:rPr lang="en-US" dirty="0" err="1"/>
              <a:t>cada</a:t>
            </a:r>
            <a:r>
              <a:rPr lang="en-US" dirty="0"/>
              <a:t> uno con sus </a:t>
            </a:r>
            <a:r>
              <a:rPr lang="en-US" dirty="0" err="1"/>
              <a:t>propias</a:t>
            </a:r>
            <a:r>
              <a:rPr lang="en-US" dirty="0"/>
              <a:t> </a:t>
            </a:r>
            <a:r>
              <a:rPr lang="en-US" dirty="0" err="1"/>
              <a:t>opciones</a:t>
            </a:r>
            <a:r>
              <a:rPr lang="en-US" dirty="0"/>
              <a:t>, y se </a:t>
            </a:r>
            <a:r>
              <a:rPr lang="en-US" dirty="0" err="1"/>
              <a:t>probaron</a:t>
            </a:r>
            <a:r>
              <a:rPr lang="en-US" dirty="0"/>
              <a:t> </a:t>
            </a:r>
            <a:r>
              <a:rPr lang="en-US" dirty="0" err="1"/>
              <a:t>todas</a:t>
            </a:r>
            <a:r>
              <a:rPr lang="en-US" dirty="0"/>
              <a:t> las </a:t>
            </a:r>
            <a:r>
              <a:rPr lang="en-US" dirty="0" err="1"/>
              <a:t>combinaciones</a:t>
            </a:r>
            <a:r>
              <a:rPr lang="en-US" dirty="0"/>
              <a:t> </a:t>
            </a:r>
            <a:r>
              <a:rPr lang="en-US" dirty="0" err="1"/>
              <a:t>posibles</a:t>
            </a:r>
            <a:r>
              <a:rPr lang="en-US" dirty="0"/>
              <a:t> entre </a:t>
            </a:r>
            <a:r>
              <a:rPr lang="en-US" dirty="0" err="1"/>
              <a:t>ellos</a:t>
            </a:r>
            <a:r>
              <a:rPr lang="en-US" dirty="0"/>
              <a:t>:</a:t>
            </a:r>
          </a:p>
          <a:p>
            <a:pPr lvl="0" rtl="0"/>
            <a:r>
              <a:rPr lang="en-US" b="1" dirty="0"/>
              <a:t>θ (memoria):</a:t>
            </a:r>
            <a:r>
              <a:rPr lang="en-US" dirty="0"/>
              <a:t> 3 </a:t>
            </a:r>
            <a:r>
              <a:rPr lang="en-US" dirty="0" err="1"/>
              <a:t>opciones</a:t>
            </a:r>
            <a:r>
              <a:rPr lang="en-US" dirty="0"/>
              <a:t> — 0,3 / 0,5 / 0,7</a:t>
            </a:r>
          </a:p>
          <a:p>
            <a:pPr lvl="0" rtl="0"/>
            <a:r>
              <a:rPr lang="en-US" b="1" dirty="0"/>
              <a:t>α (forma de la curva):</a:t>
            </a:r>
            <a:r>
              <a:rPr lang="en-US" dirty="0"/>
              <a:t> 2 </a:t>
            </a:r>
            <a:r>
              <a:rPr lang="en-US" dirty="0" err="1"/>
              <a:t>opciones</a:t>
            </a:r>
            <a:r>
              <a:rPr lang="en-US" dirty="0"/>
              <a:t> — 1 / 2</a:t>
            </a:r>
          </a:p>
          <a:p>
            <a:pPr lvl="0" rtl="0"/>
            <a:r>
              <a:rPr lang="en-US" b="1" dirty="0"/>
              <a:t>γ (punto de </a:t>
            </a:r>
            <a:r>
              <a:rPr lang="en-US" b="1" dirty="0" err="1"/>
              <a:t>saturación</a:t>
            </a:r>
            <a:r>
              <a:rPr lang="en-US" b="1" dirty="0"/>
              <a:t>):</a:t>
            </a:r>
            <a:r>
              <a:rPr lang="en-US" dirty="0"/>
              <a:t> 3 </a:t>
            </a:r>
            <a:r>
              <a:rPr lang="en-US" dirty="0" err="1"/>
              <a:t>opciones</a:t>
            </a:r>
            <a:r>
              <a:rPr lang="en-US" dirty="0"/>
              <a:t> — </a:t>
            </a:r>
            <a:r>
              <a:rPr lang="en-US" dirty="0" err="1"/>
              <a:t>percentil</a:t>
            </a:r>
            <a:r>
              <a:rPr lang="en-US" dirty="0"/>
              <a:t> 25 / 50 / 75</a:t>
            </a:r>
          </a:p>
          <a:p>
            <a:pPr lvl="0" rtl="0"/>
            <a:endParaRPr lang="en-US" dirty="0"/>
          </a:p>
          <a:p>
            <a:pPr rtl="0"/>
            <a:r>
              <a:rPr lang="en-US" dirty="0"/>
              <a:t>3 × 2 × 3 = </a:t>
            </a:r>
            <a:r>
              <a:rPr lang="en-US" b="1" dirty="0"/>
              <a:t>18 </a:t>
            </a:r>
            <a:r>
              <a:rPr lang="en-US" b="1" dirty="0" err="1"/>
              <a:t>combinaciones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canal.</a:t>
            </a:r>
          </a:p>
          <a:p>
            <a:pPr rtl="0"/>
            <a:r>
              <a:rPr lang="en-US" dirty="0"/>
              <a:t>Es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grilla</a:t>
            </a:r>
            <a:r>
              <a:rPr lang="en-US" dirty="0"/>
              <a:t> </a:t>
            </a:r>
            <a:r>
              <a:rPr lang="en-US" dirty="0" err="1"/>
              <a:t>exhaustiva</a:t>
            </a:r>
            <a:r>
              <a:rPr lang="en-US" dirty="0"/>
              <a:t>: se </a:t>
            </a:r>
            <a:r>
              <a:rPr lang="en-US" dirty="0" err="1"/>
              <a:t>prueban</a:t>
            </a:r>
            <a:r>
              <a:rPr lang="en-US" dirty="0"/>
              <a:t> </a:t>
            </a:r>
            <a:r>
              <a:rPr lang="en-US" dirty="0" err="1"/>
              <a:t>todas</a:t>
            </a:r>
            <a:r>
              <a:rPr lang="en-US" dirty="0"/>
              <a:t> las </a:t>
            </a:r>
            <a:r>
              <a:rPr lang="en-US" dirty="0" err="1"/>
              <a:t>posibles</a:t>
            </a:r>
            <a:r>
              <a:rPr lang="en-US" dirty="0"/>
              <a:t> y se </a:t>
            </a:r>
            <a:r>
              <a:rPr lang="en-US" dirty="0" err="1"/>
              <a:t>elige</a:t>
            </a:r>
            <a:r>
              <a:rPr lang="en-US" dirty="0"/>
              <a:t>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mejor</a:t>
            </a:r>
            <a:r>
              <a:rPr lang="en-US" dirty="0"/>
              <a:t> </a:t>
            </a:r>
            <a:r>
              <a:rPr lang="en-US" dirty="0" err="1"/>
              <a:t>predijo</a:t>
            </a:r>
            <a:r>
              <a:rPr lang="en-US" dirty="0"/>
              <a:t> las </a:t>
            </a:r>
            <a:r>
              <a:rPr lang="en-US" dirty="0" err="1"/>
              <a:t>ventas</a:t>
            </a:r>
            <a:r>
              <a:rPr lang="en-US" dirty="0"/>
              <a:t> reales de ese canal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validación</a:t>
            </a:r>
            <a:r>
              <a:rPr lang="en-US" dirty="0"/>
              <a:t>.</a:t>
            </a:r>
          </a:p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r>
              <a:rPr lang="en-US" dirty="0"/>
              <a:t>No es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suposición</a:t>
            </a:r>
            <a:r>
              <a:rPr lang="en-US" dirty="0"/>
              <a:t>: es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ganó</a:t>
            </a:r>
            <a:r>
              <a:rPr lang="en-US" dirty="0"/>
              <a:t> contra las </a:t>
            </a:r>
            <a:r>
              <a:rPr lang="en-US" dirty="0" err="1"/>
              <a:t>otras</a:t>
            </a:r>
            <a:r>
              <a:rPr lang="en-US" dirty="0"/>
              <a:t> 17 </a:t>
            </a:r>
            <a:r>
              <a:rPr lang="en-US" dirty="0" err="1"/>
              <a:t>alternativas</a:t>
            </a:r>
            <a:r>
              <a:rPr lang="en-US" dirty="0"/>
              <a:t>. </a:t>
            </a:r>
            <a:r>
              <a:rPr lang="en-US" dirty="0" err="1"/>
              <a:t>Así</a:t>
            </a:r>
            <a:r>
              <a:rPr lang="en-US" dirty="0"/>
              <a:t> </a:t>
            </a:r>
            <a:r>
              <a:rPr lang="en-US" dirty="0" err="1"/>
              <a:t>encontré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Facebook, YouTube, TV local y video digital </a:t>
            </a:r>
            <a:r>
              <a:rPr lang="en-US" dirty="0" err="1"/>
              <a:t>tienen</a:t>
            </a:r>
            <a:r>
              <a:rPr lang="en-US" dirty="0"/>
              <a:t> memoria </a:t>
            </a:r>
            <a:r>
              <a:rPr lang="en-US" dirty="0" err="1"/>
              <a:t>corta</a:t>
            </a:r>
            <a:r>
              <a:rPr lang="en-US" dirty="0"/>
              <a:t>, y </a:t>
            </a:r>
            <a:r>
              <a:rPr lang="en-US" dirty="0" err="1"/>
              <a:t>que</a:t>
            </a:r>
            <a:r>
              <a:rPr lang="en-US" dirty="0"/>
              <a:t> Instagram y radio </a:t>
            </a:r>
            <a:r>
              <a:rPr lang="en-US" dirty="0" err="1"/>
              <a:t>tienen</a:t>
            </a:r>
            <a:r>
              <a:rPr lang="en-US" dirty="0"/>
              <a:t> memoria </a:t>
            </a:r>
            <a:r>
              <a:rPr lang="en-US" dirty="0" err="1"/>
              <a:t>larga</a:t>
            </a:r>
            <a:r>
              <a:rPr lang="en-US" dirty="0"/>
              <a:t>. El </a:t>
            </a:r>
            <a:r>
              <a:rPr lang="en-US" dirty="0" err="1"/>
              <a:t>gráfico</a:t>
            </a:r>
            <a:r>
              <a:rPr lang="en-US" dirty="0"/>
              <a:t> de la </a:t>
            </a:r>
            <a:r>
              <a:rPr lang="en-US" dirty="0" err="1"/>
              <a:t>izquierda</a:t>
            </a:r>
            <a:r>
              <a:rPr lang="en-US" dirty="0"/>
              <a:t> solo </a:t>
            </a:r>
            <a:r>
              <a:rPr lang="en-US" dirty="0" err="1"/>
              <a:t>dibuja</a:t>
            </a:r>
            <a:r>
              <a:rPr lang="en-US" dirty="0"/>
              <a:t> </a:t>
            </a:r>
            <a:r>
              <a:rPr lang="en-US" dirty="0" err="1"/>
              <a:t>esa</a:t>
            </a:r>
            <a:r>
              <a:rPr lang="en-US" dirty="0"/>
              <a:t> </a:t>
            </a:r>
            <a:r>
              <a:rPr lang="en-US" dirty="0" err="1"/>
              <a:t>fórmula</a:t>
            </a:r>
            <a:r>
              <a:rPr lang="en-US" dirty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ganadora</a:t>
            </a:r>
            <a:r>
              <a:rPr lang="en-US" dirty="0"/>
              <a:t>, </a:t>
            </a:r>
            <a:r>
              <a:rPr lang="en-US" dirty="0" err="1"/>
              <a:t>semana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r>
              <a:rPr lang="en-US" dirty="0"/>
              <a:t>.</a:t>
            </a:r>
          </a:p>
          <a:p>
            <a:pPr rtl="0"/>
            <a:endParaRPr lang="en-US" dirty="0"/>
          </a:p>
          <a:p>
            <a:pPr rtl="0"/>
            <a:r>
              <a:rPr lang="en-US" dirty="0"/>
              <a:t>En </a:t>
            </a:r>
            <a:r>
              <a:rPr lang="en-US" dirty="0" err="1"/>
              <a:t>esa</a:t>
            </a:r>
            <a:r>
              <a:rPr lang="en-US" dirty="0"/>
              <a:t> </a:t>
            </a:r>
            <a:r>
              <a:rPr lang="en-US" dirty="0" err="1"/>
              <a:t>misma</a:t>
            </a:r>
            <a:r>
              <a:rPr lang="en-US" dirty="0"/>
              <a:t> </a:t>
            </a:r>
            <a:r>
              <a:rPr lang="en-US" dirty="0" err="1"/>
              <a:t>calibración</a:t>
            </a:r>
            <a:r>
              <a:rPr lang="en-US" dirty="0"/>
              <a:t> también </a:t>
            </a:r>
            <a:r>
              <a:rPr lang="en-US" dirty="0" err="1"/>
              <a:t>encontré</a:t>
            </a:r>
            <a:r>
              <a:rPr lang="en-US" dirty="0"/>
              <a:t> la curva de </a:t>
            </a:r>
            <a:r>
              <a:rPr lang="en-US" dirty="0" err="1"/>
              <a:t>saturación</a:t>
            </a:r>
            <a:r>
              <a:rPr lang="en-US" dirty="0"/>
              <a:t> de </a:t>
            </a:r>
            <a:r>
              <a:rPr lang="en-US" dirty="0" err="1"/>
              <a:t>cada</a:t>
            </a:r>
            <a:r>
              <a:rPr lang="en-US" dirty="0"/>
              <a:t> canal, o sea, </a:t>
            </a:r>
            <a:r>
              <a:rPr lang="en-US" dirty="0" err="1"/>
              <a:t>qué</a:t>
            </a:r>
            <a:r>
              <a:rPr lang="en-US" dirty="0"/>
              <a:t> tan </a:t>
            </a:r>
            <a:r>
              <a:rPr lang="en-US" dirty="0" err="1"/>
              <a:t>rápido</a:t>
            </a:r>
            <a:r>
              <a:rPr lang="en-US" dirty="0"/>
              <a:t> </a:t>
            </a:r>
            <a:r>
              <a:rPr lang="en-US" dirty="0" err="1"/>
              <a:t>deja</a:t>
            </a:r>
            <a:r>
              <a:rPr lang="en-US" dirty="0"/>
              <a:t> de </a:t>
            </a:r>
            <a:r>
              <a:rPr lang="en-US" dirty="0" err="1"/>
              <a:t>rendir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peso </a:t>
            </a:r>
            <a:r>
              <a:rPr lang="en-US" dirty="0" err="1"/>
              <a:t>adicional</a:t>
            </a:r>
            <a:r>
              <a:rPr lang="en-US" dirty="0"/>
              <a:t>. Esa es la curva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ven</a:t>
            </a:r>
            <a:r>
              <a:rPr lang="en-US" dirty="0"/>
              <a:t> </a:t>
            </a:r>
            <a:r>
              <a:rPr lang="en-US" dirty="0" err="1"/>
              <a:t>dibujada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panel de la </a:t>
            </a:r>
            <a:r>
              <a:rPr lang="en-US" dirty="0" err="1"/>
              <a:t>derecha</a:t>
            </a:r>
            <a:r>
              <a:rPr lang="en-US" dirty="0"/>
              <a:t>: es la </a:t>
            </a:r>
            <a:r>
              <a:rPr lang="en-US" dirty="0" err="1"/>
              <a:t>personalidad</a:t>
            </a:r>
            <a:r>
              <a:rPr lang="en-US" dirty="0"/>
              <a:t> de ese canal,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ajustada</a:t>
            </a:r>
            <a:r>
              <a:rPr lang="en-US" dirty="0"/>
              <a:t> con </a:t>
            </a:r>
            <a:r>
              <a:rPr lang="en-US" dirty="0" err="1"/>
              <a:t>nuestros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.</a:t>
            </a:r>
          </a:p>
          <a:p>
            <a:pPr rtl="0"/>
            <a:endParaRPr lang="en-US" dirty="0"/>
          </a:p>
          <a:p>
            <a:pPr rtl="0"/>
            <a:r>
              <a:rPr lang="en-US" dirty="0"/>
              <a:t>Y </a:t>
            </a:r>
            <a:r>
              <a:rPr lang="en-US" dirty="0" err="1"/>
              <a:t>acá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la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importante</a:t>
            </a:r>
            <a:r>
              <a:rPr lang="en-US" dirty="0"/>
              <a:t>. Una </a:t>
            </a:r>
            <a:r>
              <a:rPr lang="en-US" dirty="0" err="1"/>
              <a:t>vez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canal </a:t>
            </a:r>
            <a:r>
              <a:rPr lang="en-US" dirty="0" err="1"/>
              <a:t>tiene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fórmula</a:t>
            </a:r>
            <a:r>
              <a:rPr lang="en-US" dirty="0"/>
              <a:t> de memoria y </a:t>
            </a:r>
            <a:r>
              <a:rPr lang="en-US" dirty="0" err="1"/>
              <a:t>su</a:t>
            </a:r>
            <a:r>
              <a:rPr lang="en-US" dirty="0"/>
              <a:t> curva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definidas</a:t>
            </a:r>
            <a:r>
              <a:rPr lang="en-US" dirty="0"/>
              <a:t>, </a:t>
            </a:r>
            <a:r>
              <a:rPr lang="en-US" dirty="0" err="1"/>
              <a:t>tomé</a:t>
            </a:r>
            <a:r>
              <a:rPr lang="en-US" dirty="0"/>
              <a:t> la </a:t>
            </a:r>
            <a:r>
              <a:rPr lang="en-US" dirty="0" err="1"/>
              <a:t>inversión</a:t>
            </a:r>
            <a:r>
              <a:rPr lang="en-US" dirty="0"/>
              <a:t> real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hicimos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las </a:t>
            </a:r>
            <a:r>
              <a:rPr lang="en-US" dirty="0" err="1"/>
              <a:t>últimas</a:t>
            </a:r>
            <a:r>
              <a:rPr lang="en-US" dirty="0"/>
              <a:t> </a:t>
            </a:r>
            <a:r>
              <a:rPr lang="en-US" dirty="0" err="1"/>
              <a:t>ocho</a:t>
            </a:r>
            <a:r>
              <a:rPr lang="en-US" dirty="0"/>
              <a:t> </a:t>
            </a:r>
            <a:r>
              <a:rPr lang="en-US" dirty="0" err="1"/>
              <a:t>semanas</a:t>
            </a:r>
            <a:r>
              <a:rPr lang="en-US" dirty="0"/>
              <a:t> y la </a:t>
            </a:r>
            <a:r>
              <a:rPr lang="en-US" dirty="0" err="1"/>
              <a:t>hice</a:t>
            </a:r>
            <a:r>
              <a:rPr lang="en-US" dirty="0"/>
              <a:t> pasar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esa</a:t>
            </a:r>
            <a:r>
              <a:rPr lang="en-US" dirty="0"/>
              <a:t> </a:t>
            </a:r>
            <a:r>
              <a:rPr lang="en-US" dirty="0" err="1"/>
              <a:t>fórmula</a:t>
            </a:r>
            <a:r>
              <a:rPr lang="en-US" dirty="0"/>
              <a:t>. El </a:t>
            </a:r>
            <a:r>
              <a:rPr lang="en-US" dirty="0" err="1"/>
              <a:t>resultado</a:t>
            </a:r>
            <a:r>
              <a:rPr lang="en-US" dirty="0"/>
              <a:t> es un </a:t>
            </a:r>
            <a:r>
              <a:rPr lang="en-US" dirty="0" err="1"/>
              <a:t>número</a:t>
            </a:r>
            <a:r>
              <a:rPr lang="en-US" dirty="0"/>
              <a:t> entre 0 y 1 </a:t>
            </a:r>
            <a:r>
              <a:rPr lang="en-US" dirty="0" err="1"/>
              <a:t>que</a:t>
            </a:r>
            <a:r>
              <a:rPr lang="en-US" dirty="0"/>
              <a:t> me dice </a:t>
            </a:r>
            <a:r>
              <a:rPr lang="en-US" dirty="0" err="1"/>
              <a:t>qué</a:t>
            </a:r>
            <a:r>
              <a:rPr lang="en-US" dirty="0"/>
              <a:t> tan </a:t>
            </a:r>
            <a:r>
              <a:rPr lang="en-US" dirty="0" err="1"/>
              <a:t>cargado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ese canal </a:t>
            </a:r>
            <a:r>
              <a:rPr lang="en-US" dirty="0" err="1"/>
              <a:t>ahora</a:t>
            </a:r>
            <a:r>
              <a:rPr lang="en-US" dirty="0"/>
              <a:t> </a:t>
            </a:r>
            <a:r>
              <a:rPr lang="en-US" dirty="0" err="1"/>
              <a:t>mismo</a:t>
            </a:r>
            <a:r>
              <a:rPr lang="en-US" dirty="0"/>
              <a:t>, con lo </a:t>
            </a:r>
            <a:r>
              <a:rPr lang="en-US" dirty="0" err="1"/>
              <a:t>que</a:t>
            </a:r>
            <a:r>
              <a:rPr lang="en-US" dirty="0"/>
              <a:t> de </a:t>
            </a:r>
            <a:r>
              <a:rPr lang="en-US" dirty="0" err="1"/>
              <a:t>verdad</a:t>
            </a:r>
            <a:r>
              <a:rPr lang="en-US" dirty="0"/>
              <a:t> </a:t>
            </a:r>
            <a:r>
              <a:rPr lang="en-US" dirty="0" err="1"/>
              <a:t>invertimos</a:t>
            </a:r>
            <a:r>
              <a:rPr lang="en-US" dirty="0"/>
              <a:t>.</a:t>
            </a:r>
          </a:p>
          <a:p>
            <a:pPr rtl="0"/>
            <a:r>
              <a:rPr lang="en-US" dirty="0"/>
              <a:t>Ese </a:t>
            </a:r>
            <a:r>
              <a:rPr lang="en-US" dirty="0" err="1"/>
              <a:t>número</a:t>
            </a:r>
            <a:r>
              <a:rPr lang="en-US" dirty="0"/>
              <a:t> es el punto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gráfica</a:t>
            </a:r>
            <a:r>
              <a:rPr lang="en-US" dirty="0"/>
              <a:t>. Y ese </a:t>
            </a:r>
            <a:r>
              <a:rPr lang="en-US" dirty="0" err="1"/>
              <a:t>mismo</a:t>
            </a:r>
            <a:r>
              <a:rPr lang="en-US" dirty="0"/>
              <a:t> </a:t>
            </a:r>
            <a:r>
              <a:rPr lang="en-US" dirty="0" err="1"/>
              <a:t>número</a:t>
            </a:r>
            <a:r>
              <a:rPr lang="en-US" dirty="0"/>
              <a:t>,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porcentaje</a:t>
            </a:r>
            <a:r>
              <a:rPr lang="en-US" dirty="0"/>
              <a:t>, es el 92 % o el 30 % del </a:t>
            </a:r>
            <a:r>
              <a:rPr lang="en-US" dirty="0" err="1"/>
              <a:t>título</a:t>
            </a:r>
            <a:r>
              <a:rPr lang="en-US" dirty="0"/>
              <a:t>.</a:t>
            </a:r>
          </a:p>
          <a:p>
            <a:pPr rtl="0"/>
            <a:r>
              <a:rPr lang="en-US" dirty="0" err="1"/>
              <a:t>Entonces</a:t>
            </a:r>
            <a:r>
              <a:rPr lang="en-US" dirty="0"/>
              <a:t>, </a:t>
            </a:r>
            <a:r>
              <a:rPr lang="en-US" dirty="0" err="1"/>
              <a:t>cuando</a:t>
            </a:r>
            <a:r>
              <a:rPr lang="en-US" dirty="0"/>
              <a:t> </a:t>
            </a:r>
            <a:r>
              <a:rPr lang="en-US" dirty="0" err="1"/>
              <a:t>digo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Facebook </a:t>
            </a:r>
            <a:r>
              <a:rPr lang="en-US" dirty="0" err="1"/>
              <a:t>está</a:t>
            </a:r>
            <a:r>
              <a:rPr lang="en-US" dirty="0"/>
              <a:t> al 92 %, lo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estoy</a:t>
            </a:r>
            <a:r>
              <a:rPr lang="en-US" dirty="0"/>
              <a:t> </a:t>
            </a:r>
            <a:r>
              <a:rPr lang="en-US" dirty="0" err="1"/>
              <a:t>diciendo</a:t>
            </a:r>
            <a:r>
              <a:rPr lang="en-US" dirty="0"/>
              <a:t> es: con la </a:t>
            </a:r>
            <a:r>
              <a:rPr lang="en-US" dirty="0" err="1"/>
              <a:t>plata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invertimos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Facebook </a:t>
            </a:r>
            <a:r>
              <a:rPr lang="en-US" dirty="0" err="1"/>
              <a:t>estas</a:t>
            </a:r>
            <a:r>
              <a:rPr lang="en-US" dirty="0"/>
              <a:t> </a:t>
            </a:r>
            <a:r>
              <a:rPr lang="en-US" dirty="0" err="1"/>
              <a:t>últimas</a:t>
            </a:r>
            <a:r>
              <a:rPr lang="en-US" dirty="0"/>
              <a:t> </a:t>
            </a:r>
            <a:r>
              <a:rPr lang="en-US" dirty="0" err="1"/>
              <a:t>semanas</a:t>
            </a:r>
            <a:r>
              <a:rPr lang="en-US" dirty="0"/>
              <a:t>, y con la </a:t>
            </a:r>
            <a:r>
              <a:rPr lang="en-US" dirty="0" err="1"/>
              <a:t>fórmula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mejor</a:t>
            </a:r>
            <a:r>
              <a:rPr lang="en-US" dirty="0"/>
              <a:t> </a:t>
            </a:r>
            <a:r>
              <a:rPr lang="en-US" dirty="0" err="1"/>
              <a:t>explica</a:t>
            </a:r>
            <a:r>
              <a:rPr lang="en-US" dirty="0"/>
              <a:t> </a:t>
            </a:r>
            <a:r>
              <a:rPr lang="en-US" dirty="0" err="1"/>
              <a:t>cómo</a:t>
            </a:r>
            <a:r>
              <a:rPr lang="en-US" dirty="0"/>
              <a:t> </a:t>
            </a:r>
            <a:r>
              <a:rPr lang="en-US" dirty="0" err="1"/>
              <a:t>responde</a:t>
            </a:r>
            <a:r>
              <a:rPr lang="en-US" dirty="0"/>
              <a:t> Facebook, el canal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casi</a:t>
            </a:r>
            <a:r>
              <a:rPr lang="en-US" dirty="0"/>
              <a:t> </a:t>
            </a:r>
            <a:r>
              <a:rPr lang="en-US" dirty="0" err="1"/>
              <a:t>lleno</a:t>
            </a:r>
            <a:r>
              <a:rPr lang="en-US" dirty="0"/>
              <a:t>. Y </a:t>
            </a:r>
            <a:r>
              <a:rPr lang="en-US" dirty="0" err="1"/>
              <a:t>cuando</a:t>
            </a:r>
            <a:r>
              <a:rPr lang="en-US" dirty="0"/>
              <a:t> </a:t>
            </a:r>
            <a:r>
              <a:rPr lang="en-US" dirty="0" err="1"/>
              <a:t>digo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TV local </a:t>
            </a:r>
            <a:r>
              <a:rPr lang="en-US" dirty="0" err="1"/>
              <a:t>está</a:t>
            </a:r>
            <a:r>
              <a:rPr lang="en-US" dirty="0"/>
              <a:t> al 30 %, es </a:t>
            </a:r>
            <a:r>
              <a:rPr lang="en-US" dirty="0" err="1"/>
              <a:t>que</a:t>
            </a:r>
            <a:r>
              <a:rPr lang="en-US" dirty="0"/>
              <a:t> con lo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invertimos</a:t>
            </a:r>
            <a:r>
              <a:rPr lang="en-US" dirty="0"/>
              <a:t> ahí, </a:t>
            </a:r>
            <a:r>
              <a:rPr lang="en-US" dirty="0" err="1"/>
              <a:t>todavía</a:t>
            </a:r>
            <a:r>
              <a:rPr lang="en-US" dirty="0"/>
              <a:t> le </a:t>
            </a:r>
            <a:r>
              <a:rPr lang="en-US" dirty="0" err="1"/>
              <a:t>queda</a:t>
            </a:r>
            <a:r>
              <a:rPr lang="en-US" dirty="0"/>
              <a:t> </a:t>
            </a:r>
            <a:r>
              <a:rPr lang="en-US" dirty="0" err="1"/>
              <a:t>mucho</a:t>
            </a:r>
            <a:r>
              <a:rPr lang="en-US" dirty="0"/>
              <a:t> </a:t>
            </a:r>
            <a:r>
              <a:rPr lang="en-US" dirty="0" err="1"/>
              <a:t>espacio</a:t>
            </a:r>
            <a:r>
              <a:rPr lang="en-US" dirty="0"/>
              <a:t>.</a:t>
            </a:r>
          </a:p>
          <a:p>
            <a:pPr rtl="0"/>
            <a:r>
              <a:rPr lang="en-US" dirty="0"/>
              <a:t>En </a:t>
            </a:r>
            <a:r>
              <a:rPr lang="en-US" dirty="0" err="1"/>
              <a:t>resumen</a:t>
            </a:r>
            <a:r>
              <a:rPr lang="en-US" dirty="0"/>
              <a:t>: </a:t>
            </a:r>
            <a:r>
              <a:rPr lang="en-US" dirty="0" err="1"/>
              <a:t>nuestra</a:t>
            </a:r>
            <a:r>
              <a:rPr lang="en-US" dirty="0"/>
              <a:t> </a:t>
            </a:r>
            <a:r>
              <a:rPr lang="en-US" dirty="0" err="1"/>
              <a:t>inversión</a:t>
            </a:r>
            <a:r>
              <a:rPr lang="en-US" dirty="0"/>
              <a:t> real </a:t>
            </a:r>
            <a:r>
              <a:rPr lang="en-US" dirty="0" err="1"/>
              <a:t>pasa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la </a:t>
            </a:r>
            <a:r>
              <a:rPr lang="en-US" dirty="0" err="1"/>
              <a:t>fórmula</a:t>
            </a:r>
            <a:r>
              <a:rPr lang="en-US" dirty="0"/>
              <a:t> de memoria de ese canal, se </a:t>
            </a:r>
            <a:r>
              <a:rPr lang="en-US" dirty="0" err="1"/>
              <a:t>acumula</a:t>
            </a:r>
            <a:r>
              <a:rPr lang="en-US" dirty="0"/>
              <a:t>, y se </a:t>
            </a:r>
            <a:r>
              <a:rPr lang="en-US" dirty="0" err="1"/>
              <a:t>compara</a:t>
            </a:r>
            <a:r>
              <a:rPr lang="en-US" dirty="0"/>
              <a:t> contra </a:t>
            </a:r>
            <a:r>
              <a:rPr lang="en-US" dirty="0" err="1"/>
              <a:t>su</a:t>
            </a:r>
            <a:r>
              <a:rPr lang="en-US" dirty="0"/>
              <a:t> curva de </a:t>
            </a:r>
            <a:r>
              <a:rPr lang="en-US" dirty="0" err="1"/>
              <a:t>saturación</a:t>
            </a:r>
            <a:r>
              <a:rPr lang="en-US" dirty="0"/>
              <a:t>. Eso es lo </a:t>
            </a:r>
            <a:r>
              <a:rPr lang="en-US" dirty="0" err="1"/>
              <a:t>que</a:t>
            </a:r>
            <a:r>
              <a:rPr lang="en-US" dirty="0"/>
              <a:t> da el punto y el </a:t>
            </a:r>
            <a:r>
              <a:rPr lang="en-US" dirty="0" err="1"/>
              <a:t>porcentaje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ven</a:t>
            </a:r>
            <a:r>
              <a:rPr lang="en-US" dirty="0"/>
              <a:t> </a:t>
            </a:r>
            <a:r>
              <a:rPr lang="en-US" dirty="0" err="1"/>
              <a:t>acá</a:t>
            </a:r>
            <a:r>
              <a:rPr lang="en-US" dirty="0"/>
              <a:t>. No </a:t>
            </a:r>
            <a:r>
              <a:rPr lang="en-US" dirty="0" err="1"/>
              <a:t>elegí</a:t>
            </a:r>
            <a:r>
              <a:rPr lang="en-US" dirty="0"/>
              <a:t> </a:t>
            </a:r>
            <a:r>
              <a:rPr lang="en-US" dirty="0" err="1"/>
              <a:t>estos</a:t>
            </a:r>
            <a:r>
              <a:rPr lang="en-US" dirty="0"/>
              <a:t> </a:t>
            </a:r>
            <a:r>
              <a:rPr lang="en-US" dirty="0" err="1"/>
              <a:t>números</a:t>
            </a:r>
            <a:r>
              <a:rPr lang="en-US" dirty="0"/>
              <a:t> al </a:t>
            </a:r>
            <a:r>
              <a:rPr lang="en-US" dirty="0" err="1"/>
              <a:t>armar</a:t>
            </a:r>
            <a:r>
              <a:rPr lang="en-US" dirty="0"/>
              <a:t> la </a:t>
            </a:r>
            <a:r>
              <a:rPr lang="en-US" dirty="0" err="1"/>
              <a:t>lámina</a:t>
            </a:r>
            <a:r>
              <a:rPr lang="en-US" dirty="0"/>
              <a:t>: </a:t>
            </a:r>
            <a:r>
              <a:rPr lang="en-US" dirty="0" err="1"/>
              <a:t>salen</a:t>
            </a:r>
            <a:r>
              <a:rPr lang="en-US" dirty="0"/>
              <a:t> de </a:t>
            </a:r>
            <a:r>
              <a:rPr lang="en-US" dirty="0" err="1"/>
              <a:t>aplicar</a:t>
            </a:r>
            <a:r>
              <a:rPr lang="en-US" dirty="0"/>
              <a:t> </a:t>
            </a:r>
            <a:r>
              <a:rPr lang="en-US" dirty="0" err="1"/>
              <a:t>matemática</a:t>
            </a:r>
            <a:r>
              <a:rPr lang="en-US" dirty="0"/>
              <a:t> a </a:t>
            </a:r>
            <a:r>
              <a:rPr lang="en-US" dirty="0" err="1"/>
              <a:t>datos</a:t>
            </a:r>
            <a:r>
              <a:rPr lang="en-US" dirty="0"/>
              <a:t> reales, dos </a:t>
            </a:r>
            <a:r>
              <a:rPr lang="en-US" dirty="0" err="1"/>
              <a:t>veces</a:t>
            </a:r>
            <a:r>
              <a:rPr lang="en-US" dirty="0"/>
              <a:t>. Primero para encontrar la </a:t>
            </a:r>
            <a:r>
              <a:rPr lang="en-US" dirty="0" err="1"/>
              <a:t>fórmula</a:t>
            </a:r>
            <a:r>
              <a:rPr lang="en-US" dirty="0"/>
              <a:t> de </a:t>
            </a:r>
            <a:r>
              <a:rPr lang="en-US" dirty="0" err="1"/>
              <a:t>cada</a:t>
            </a:r>
            <a:r>
              <a:rPr lang="en-US" dirty="0"/>
              <a:t> canal, y </a:t>
            </a:r>
            <a:r>
              <a:rPr lang="en-US" dirty="0" err="1"/>
              <a:t>después</a:t>
            </a:r>
            <a:r>
              <a:rPr lang="en-US" dirty="0"/>
              <a:t> para </a:t>
            </a:r>
            <a:r>
              <a:rPr lang="en-US" dirty="0" err="1"/>
              <a:t>ubicar</a:t>
            </a:r>
            <a:r>
              <a:rPr lang="en-US" dirty="0"/>
              <a:t> </a:t>
            </a:r>
            <a:r>
              <a:rPr lang="en-US" dirty="0" err="1"/>
              <a:t>dónde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uno hoy."</a:t>
            </a:r>
          </a:p>
          <a:p>
            <a:endParaRPr lang="en-US" dirty="0"/>
          </a:p>
          <a:p>
            <a:endParaRPr lang="en-US" dirty="0"/>
          </a:p>
          <a:p>
            <a:pPr rtl="0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valores junto a cada punto están en escala logarítmica, porque el modelo explica log(1 + volumen). Su traducción a porcentaje es 100 · (e^β − 1): temperatura 0,032 da +3,2 %; distribución 0,016 da +1,6 %; feriado −0,116 da −11,0 %; Facebook 0,296 da +34,5 %; Subcanal C 2,289 da e^2,289 ≈ 9,9 veces el volumen del Subcanal B. La barra es el intervalo de confianza del 90 %. En medios, el coeficiente corresponde a recorrer toda la curva de saturación, no a un peso invertido.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Coeficientes y efectos porcentuales de la celda de estimación del modelo final del notebook (columna efecto_porcentual). En efectos fijos, el efecto es la diferencia de volumen base frente a la categoría de referencia: Subcanal C vende e^2,289 = 9,9 veces lo del Subcanal B, es decir, +886 %. En medios, el efecto corresponde al recorrido completo de la curva de saturación; el aporte desde la posición actual está en la lámina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lámina evita el error más común al presentar un MMM: confundir el efecto fijo de un segmento con su respuesta publicitaria.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de la tabla comparativa de especificaciones del notebook, estimadas sobre una muestra común. Que el R² de prueba supere al de entrenamiento no indica un error: el período de prueba (mayo a diciembre de 2025) puede ser más regular que el de entrenamiento, que incluye el pico atípico de la temporada 2023-2024. Lo relevante es que no hay caída al pasar a datos nuevos. El estacional ingenuo no tiene R² de entrenamiento porque no estima parámetros. Métricas complementarias del MMM calibrado en prueba: RMSE 1.280 hL y MAE 482 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R² por ventana de la celda de backtesting del notebook. En cada ventana se reestiman los coeficientes con todas las semanas previas y se predicen las ocho siguientes, sin usar datos futuros. Referencia no incluida en el gráfico: el estacional ingenuo t-52 logra R² de 0,744; 0,868; 0,681 y 0,812 por ventana (0,784 global); el híbrido lo supera en tres de cuatro ventanas y en el global. Dispersión del RMSE entre ventanas: 73 hL en el híbrido frente a 191 hL del estacional.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Respaldo técnico si lo piden: los residuos muestran heterocedasticidad (Breusch-Pagan, p &lt; 0,001) y autocorrelación remanente en los rezagos 8 y 13. Además, θ, α y γ se seleccionaron entre alternativas discretas, lo que agrega incertidumbre no reflejada en los errores estándar.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para el CMO: el objetivo no es gastar más, sino que cada peso de marketing trabaje más. Las pruebas convierten asociaciones del modelo en retorno medido. Condición para escalar el plan: incorporar precio y promociones a la medición, para que los medios no se lleven efectos que no les corresponden. El monto de la prueba se define con Finanzas según el presupuesto vigente de cada canal. Evidencia: coeficientes estandarizados (cobertura 0,263 frente a Facebook 0,048), posición en la curva de saturación de las últimas ocho semanas y margen restante calculado como e^(η·(1−S)) − 1.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Mencionar el registro en MLflow solo si preguntan por reproducibilidad.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2560320"/>
            <a:ext cx="2743200" cy="2743200"/>
          </a:xfrm>
          <a:prstGeom prst="ellipse">
            <a:avLst/>
          </a:prstGeom>
          <a:solidFill>
            <a:srgbClr val="1C1714"/>
          </a:solidFill>
          <a:ln w="12700">
            <a:solidFill>
              <a:srgbClr val="C891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326880" y="2194560"/>
            <a:ext cx="2011680" cy="2011680"/>
          </a:xfrm>
          <a:prstGeom prst="ellipse">
            <a:avLst/>
          </a:prstGeom>
          <a:solidFill>
            <a:srgbClr val="1C1714"/>
          </a:solidFill>
          <a:ln w="12700">
            <a:solidFill>
              <a:srgbClr val="C891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058400" y="1828800"/>
            <a:ext cx="1280160" cy="1280160"/>
          </a:xfrm>
          <a:prstGeom prst="ellipse">
            <a:avLst/>
          </a:prstGeom>
          <a:solidFill>
            <a:srgbClr val="1C1714"/>
          </a:solidFill>
          <a:ln w="12700">
            <a:solidFill>
              <a:srgbClr val="C891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2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73100" y="2331720"/>
            <a:ext cx="821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mixtos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publicidad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y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el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volumen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comercializado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impulsa el volumen, dónde invertir con más evidencia y cómo validarlo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8406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 semanas, 6 marcas, 8 regiones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508406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17,856 obs. de entrenamiento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508406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4,002 obs. fuera de muestra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48463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508406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Víctor Tablas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</a:t>
            </a:r>
            <a:endParaRPr lang="en-US" sz="9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B71F47B-C29E-B997-B9E1-7B459D8D3E3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tretch>
            <a:fillRect/>
          </a:stretch>
        </p:blipFill>
        <p:spPr>
          <a:xfrm>
            <a:off x="-348508" y="-519538"/>
            <a:ext cx="12889016" cy="7439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DIRECCIÓN DE MARKETING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impulsa el volumen y dónde conviene actuar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54496" y="1444752"/>
            <a:ext cx="5385816" cy="1901952"/>
          </a:xfrm>
          <a:prstGeom prst="roundRect">
            <a:avLst>
              <a:gd name="adj" fmla="val 2885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528816" y="1627632"/>
            <a:ext cx="1417320" cy="237744"/>
          </a:xfrm>
          <a:prstGeom prst="roundRect">
            <a:avLst>
              <a:gd name="adj" fmla="val 50000"/>
            </a:avLst>
          </a:prstGeom>
          <a:solidFill>
            <a:srgbClr val="4154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6528816" y="162763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 MEDIA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528816" y="1920240"/>
            <a:ext cx="4837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Facebook, YouTube y TV local muestran señal de retorno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528816" y="2423160"/>
            <a:ext cx="4837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los únicos canales con efecto positivo consistente. Seis de los catorce no muestran un efecto medible con la inversión actual.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28816" y="2862072"/>
            <a:ext cx="4837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hacer: </a:t>
            </a:r>
            <a:r>
              <a:rPr lang="en-US" sz="11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dirigir ahí la próxima inversión incremental, empezando por mercados de prueba.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438144"/>
            <a:ext cx="5385816" cy="1901952"/>
          </a:xfrm>
          <a:prstGeom prst="roundRect">
            <a:avLst>
              <a:gd name="adj" fmla="val 2885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1417320" cy="237744"/>
          </a:xfrm>
          <a:prstGeom prst="roundRect">
            <a:avLst>
              <a:gd name="adj" fmla="val 50000"/>
            </a:avLst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822960" y="362102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 ALTA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913632"/>
            <a:ext cx="4837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medios mueven el volumen menos de lo que suele suponerse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16552"/>
            <a:ext cx="4837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toda la inversión en medios mejora apenas 3 % la precisión del modelo. El tamaño de cada marca, región y canal, el clima y la estación pesan más.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855464"/>
            <a:ext cx="4837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hacer: </a:t>
            </a:r>
            <a:r>
              <a:rPr lang="en-US" sz="11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cada canal por su efecto incremental medido, no por su coincidencia con las ventas.</a:t>
            </a:r>
            <a:endParaRPr lang="en-US" sz="1150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BFFDF0F-D666-1989-26D4-2D827BE4687D}"/>
              </a:ext>
            </a:extLst>
          </p:cNvPr>
          <p:cNvGrpSpPr/>
          <p:nvPr/>
        </p:nvGrpSpPr>
        <p:grpSpPr>
          <a:xfrm>
            <a:off x="548640" y="1345184"/>
            <a:ext cx="5385816" cy="1901952"/>
            <a:chOff x="6254496" y="3438144"/>
            <a:chExt cx="5385816" cy="1901952"/>
          </a:xfrm>
        </p:grpSpPr>
        <p:sp>
          <p:nvSpPr>
            <p:cNvPr id="24" name="Shape 22"/>
            <p:cNvSpPr/>
            <p:nvPr/>
          </p:nvSpPr>
          <p:spPr>
            <a:xfrm>
              <a:off x="6254496" y="3438144"/>
              <a:ext cx="5385816" cy="1901952"/>
            </a:xfrm>
            <a:prstGeom prst="roundRect">
              <a:avLst>
                <a:gd name="adj" fmla="val 2885"/>
              </a:avLst>
            </a:prstGeom>
            <a:solidFill>
              <a:srgbClr val="F5F1EA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6528816" y="3621024"/>
              <a:ext cx="1417320" cy="237744"/>
            </a:xfrm>
            <a:prstGeom prst="roundRect">
              <a:avLst>
                <a:gd name="adj" fmla="val 50000"/>
              </a:avLst>
            </a:prstGeom>
            <a:solidFill>
              <a:srgbClr val="C8912F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 24"/>
            <p:cNvSpPr txBox="1"/>
            <p:nvPr/>
          </p:nvSpPr>
          <p:spPr>
            <a:xfrm>
              <a:off x="6528816" y="3621024"/>
              <a:ext cx="14173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 kern="0" spc="8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CONFIANZA ALTA</a:t>
              </a:r>
              <a:endParaRPr lang="en-US" sz="850" dirty="0"/>
            </a:p>
          </p:txBody>
        </p:sp>
        <p:sp>
          <p:nvSpPr>
            <p:cNvPr id="27" name="Text 25"/>
            <p:cNvSpPr txBox="1"/>
            <p:nvPr/>
          </p:nvSpPr>
          <p:spPr>
            <a:xfrm>
              <a:off x="6528816" y="3913632"/>
              <a:ext cx="4837176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50" b="1" dirty="0">
                  <a:solidFill>
                    <a:srgbClr val="2B252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El clima mueve más volumen que cualquier medio</a:t>
              </a:r>
              <a:endParaRPr lang="en-US" sz="1450" dirty="0"/>
            </a:p>
          </p:txBody>
        </p:sp>
        <p:sp>
          <p:nvSpPr>
            <p:cNvPr id="28" name="Text 26"/>
            <p:cNvSpPr txBox="1"/>
            <p:nvPr/>
          </p:nvSpPr>
          <p:spPr>
            <a:xfrm>
              <a:off x="6528816" y="4416552"/>
              <a:ext cx="4837176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E655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Cada grado adicional se asocia con 3,2 % más volumen. Ante variaciones habituales, la temperatura pesa más del doble que el medio más efectivo.</a:t>
              </a:r>
              <a:endParaRPr lang="en-US" sz="1150" dirty="0"/>
            </a:p>
          </p:txBody>
        </p:sp>
        <p:sp>
          <p:nvSpPr>
            <p:cNvPr id="29" name="Text 27"/>
            <p:cNvSpPr txBox="1"/>
            <p:nvPr/>
          </p:nvSpPr>
          <p:spPr>
            <a:xfrm>
              <a:off x="6528816" y="4855464"/>
              <a:ext cx="483717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8A641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Qué hacer: </a:t>
              </a:r>
              <a:r>
                <a:rPr lang="en-US" sz="1150" dirty="0">
                  <a:solidFill>
                    <a:srgbClr val="2B252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programar pauta y activaciones según el pronóstico del clima, no solo según el calendario.</a:t>
              </a:r>
              <a:endParaRPr lang="en-US" sz="1150" dirty="0"/>
            </a:p>
          </p:txBody>
        </p:sp>
      </p:grpSp>
      <p:sp>
        <p:nvSpPr>
          <p:cNvPr id="30" name="Shape 28"/>
          <p:cNvSpPr/>
          <p:nvPr/>
        </p:nvSpPr>
        <p:spPr>
          <a:xfrm>
            <a:off x="548640" y="5468112"/>
            <a:ext cx="11091672" cy="694944"/>
          </a:xfrm>
          <a:prstGeom prst="roundRect">
            <a:avLst>
              <a:gd name="adj" fmla="val 7895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868680" y="5559552"/>
            <a:ext cx="104515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Atención: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 D y Subcanal C venden más por su tamaño, no porque respondan mejor a la publicidad. La escala de un mercado no debe guiar la asignación de medios.</a:t>
            </a:r>
            <a:endParaRPr lang="en-US" sz="12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7E518E8-5525-7059-50C1-70DC729544EB}"/>
              </a:ext>
            </a:extLst>
          </p:cNvPr>
          <p:cNvGrpSpPr/>
          <p:nvPr/>
        </p:nvGrpSpPr>
        <p:grpSpPr>
          <a:xfrm>
            <a:off x="6254496" y="3520440"/>
            <a:ext cx="5385816" cy="1901952"/>
            <a:chOff x="548640" y="1444752"/>
            <a:chExt cx="5385816" cy="1901952"/>
          </a:xfrm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C7B2DA4C-CAB4-F3A7-5156-C054D6E784C9}"/>
                </a:ext>
              </a:extLst>
            </p:cNvPr>
            <p:cNvSpPr/>
            <p:nvPr/>
          </p:nvSpPr>
          <p:spPr>
            <a:xfrm>
              <a:off x="548640" y="1444752"/>
              <a:ext cx="5385816" cy="1901952"/>
            </a:xfrm>
            <a:prstGeom prst="roundRect">
              <a:avLst>
                <a:gd name="adj" fmla="val 2885"/>
              </a:avLst>
            </a:prstGeom>
            <a:solidFill>
              <a:srgbClr val="F5F1EA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Shape 5">
              <a:extLst>
                <a:ext uri="{FF2B5EF4-FFF2-40B4-BE49-F238E27FC236}">
                  <a16:creationId xmlns:a16="http://schemas.microsoft.com/office/drawing/2014/main" id="{C35455DE-D78D-82B4-6AA6-F8B18F1AEB69}"/>
                </a:ext>
              </a:extLst>
            </p:cNvPr>
            <p:cNvSpPr/>
            <p:nvPr/>
          </p:nvSpPr>
          <p:spPr>
            <a:xfrm>
              <a:off x="822960" y="1627632"/>
              <a:ext cx="1417320" cy="237744"/>
            </a:xfrm>
            <a:prstGeom prst="roundRect">
              <a:avLst>
                <a:gd name="adj" fmla="val 50000"/>
              </a:avLst>
            </a:prstGeom>
            <a:solidFill>
              <a:srgbClr val="C8912F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 6">
              <a:extLst>
                <a:ext uri="{FF2B5EF4-FFF2-40B4-BE49-F238E27FC236}">
                  <a16:creationId xmlns:a16="http://schemas.microsoft.com/office/drawing/2014/main" id="{29C2FE65-AC21-6E6D-4509-2FF0D4DDEF58}"/>
                </a:ext>
              </a:extLst>
            </p:cNvPr>
            <p:cNvSpPr txBox="1"/>
            <p:nvPr/>
          </p:nvSpPr>
          <p:spPr>
            <a:xfrm>
              <a:off x="822960" y="1627632"/>
              <a:ext cx="14173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 kern="0" spc="8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CONFIANZA ALTA</a:t>
              </a:r>
              <a:endParaRPr lang="en-US" sz="850" dirty="0"/>
            </a:p>
          </p:txBody>
        </p:sp>
        <p:sp>
          <p:nvSpPr>
            <p:cNvPr id="39" name="Text 7">
              <a:extLst>
                <a:ext uri="{FF2B5EF4-FFF2-40B4-BE49-F238E27FC236}">
                  <a16:creationId xmlns:a16="http://schemas.microsoft.com/office/drawing/2014/main" id="{DEF4EB60-409A-F13F-2DA4-91E5724A2D81}"/>
                </a:ext>
              </a:extLst>
            </p:cNvPr>
            <p:cNvSpPr txBox="1"/>
            <p:nvPr/>
          </p:nvSpPr>
          <p:spPr>
            <a:xfrm>
              <a:off x="822960" y="1920240"/>
              <a:ext cx="4837176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50" b="1" dirty="0">
                  <a:solidFill>
                    <a:srgbClr val="2B252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 cobertura en tiendas pesa más de cinco veces que el mejor medio</a:t>
              </a:r>
              <a:endParaRPr lang="en-US" sz="1450" dirty="0"/>
            </a:p>
          </p:txBody>
        </p:sp>
        <p:sp>
          <p:nvSpPr>
            <p:cNvPr id="41" name="Text 8">
              <a:extLst>
                <a:ext uri="{FF2B5EF4-FFF2-40B4-BE49-F238E27FC236}">
                  <a16:creationId xmlns:a16="http://schemas.microsoft.com/office/drawing/2014/main" id="{327069DC-C3C0-ED04-B7B1-44464CF4D817}"/>
                </a:ext>
              </a:extLst>
            </p:cNvPr>
            <p:cNvSpPr txBox="1"/>
            <p:nvPr/>
          </p:nvSpPr>
          <p:spPr>
            <a:xfrm>
              <a:off x="822960" y="2423160"/>
              <a:ext cx="4837176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E655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Ante cambios habituales, la distribución ponderada mueve el volumen más de cinco veces que Facebook y es el efecto más estable del modelo.</a:t>
              </a:r>
              <a:endParaRPr lang="en-US" sz="1150" dirty="0"/>
            </a:p>
          </p:txBody>
        </p:sp>
        <p:sp>
          <p:nvSpPr>
            <p:cNvPr id="43" name="Text 9">
              <a:extLst>
                <a:ext uri="{FF2B5EF4-FFF2-40B4-BE49-F238E27FC236}">
                  <a16:creationId xmlns:a16="http://schemas.microsoft.com/office/drawing/2014/main" id="{8AAF5014-3515-1050-9ED9-5A9ADDAA9D14}"/>
                </a:ext>
              </a:extLst>
            </p:cNvPr>
            <p:cNvSpPr txBox="1"/>
            <p:nvPr/>
          </p:nvSpPr>
          <p:spPr>
            <a:xfrm>
              <a:off x="822960" y="2862072"/>
              <a:ext cx="483717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8A641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Qué hacer: </a:t>
              </a:r>
              <a:r>
                <a:rPr lang="en-US" sz="1150" dirty="0">
                  <a:solidFill>
                    <a:srgbClr val="2B252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ubicar los huecos de cobertura en las tiendas que más venden y comparar el costo de cerrarlos con el de sumar pauta.</a:t>
              </a:r>
              <a:endParaRPr lang="en-US" sz="115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por marca: dos líderes y un cambio de mix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home/claude/abi/eda_mar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7269480" cy="41330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6692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en hectolitros (izquierda) y facturación neta deflactada por IPC (derecha), por semana. Fuente: elaboración propia con datos del challenge.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909560" y="1463040"/>
            <a:ext cx="3730752" cy="1444752"/>
          </a:xfrm>
          <a:prstGeom prst="roundRect">
            <a:avLst>
              <a:gd name="adj" fmla="val 3797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8156448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y D concentran la demanda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156448" y="1920240"/>
            <a:ext cx="3246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 en volumen y en facturación. A, B y E forman un bloque intermedio y C se mantiene al fondo, con aporte casi nulo.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909560" y="3035808"/>
            <a:ext cx="3730752" cy="1444752"/>
          </a:xfrm>
          <a:prstGeom prst="roundRect">
            <a:avLst>
              <a:gd name="adj" fmla="val 3797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8156448" y="31729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líderes pierden fuerza desde 2024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156448" y="3493008"/>
            <a:ext cx="3246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la temporada 2023-2024, los picos de F y sobre todo de D se debilitan: la contracción del total viene de las dos marcas más grandes.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09560" y="4608576"/>
            <a:ext cx="3730752" cy="1444752"/>
          </a:xfrm>
          <a:prstGeom prst="roundRect">
            <a:avLst>
              <a:gd name="adj" fmla="val 3797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8156448" y="47457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 factura por encima de su volumen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5065776"/>
            <a:ext cx="3246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volumen se mueve a la par de A y B, pero en facturación se despega: sugiere un mayor precio por hectolitro. Es un ejemplo de por qué el mix distorsiona la facturación como variable a explicar.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muy estacional y concentrada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6" name="Image 0" descr="/home/claude/abi/eda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4617720" cy="4572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40680" y="1481328"/>
            <a:ext cx="6199632" cy="1051560"/>
          </a:xfrm>
          <a:prstGeom prst="roundRect">
            <a:avLst>
              <a:gd name="adj" fmla="val 5217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715000" y="16824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3B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1645920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fuera de muestra de un pronóstico que solo repite la misma semana del año anterior. La estacionalidad, por sí sola, explica cerca de 78 % de la variación del volumen.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40680" y="2807208"/>
            <a:ext cx="329184" cy="329184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544068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2788920"/>
            <a:ext cx="5696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Picos en el verano austral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118104"/>
            <a:ext cx="5696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volumen alcanza su máximo entre diciembre y enero y cae en los meses fríos, en línea con el efecto positivo de la temperatura.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40680" y="3922776"/>
            <a:ext cx="329184" cy="329184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440680" y="3922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3904488"/>
            <a:ext cx="5696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 D concentra la escala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4233672"/>
            <a:ext cx="5696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 varias veces a cualquier otra región. Subcanal C y las marcas F y D cumplen el mismo papel en sus dimensiones.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40680" y="5038344"/>
            <a:ext cx="329184" cy="329184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5440680" y="5038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5020056"/>
            <a:ext cx="5696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Picos más débiles desde 2024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5943600" y="5349240"/>
            <a:ext cx="5696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el máximo de la temporada 2023-2024, los picos de Región D pierden fuerza en 2025 y 2026 y arrastran el total.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99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semanal por región, en hectolitros. Fuente: elaboración propia con datos del challenge.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DATOS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faltantes e imputaciones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14344" cy="868680"/>
          </a:xfrm>
          <a:prstGeom prst="roundRect">
            <a:avLst>
              <a:gd name="adj" fmla="val 6316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148132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3B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481328"/>
            <a:ext cx="2371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 en ventas y facturación, la variable a explicar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37304" y="1417320"/>
            <a:ext cx="3514344" cy="868680"/>
          </a:xfrm>
          <a:prstGeom prst="roundRect">
            <a:avLst>
              <a:gd name="adj" fmla="val 6316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565904" y="148132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3B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39.721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257544" y="1481328"/>
            <a:ext cx="141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conservadas tras integrar las cuatro tablas, sin diferencias en totales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25968" y="1417320"/>
            <a:ext cx="3514344" cy="868680"/>
          </a:xfrm>
          <a:prstGeom prst="roundRect">
            <a:avLst>
              <a:gd name="adj" fmla="val 6316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8354568" y="148132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3B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83 %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634728" y="1481328"/>
            <a:ext cx="1822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registros de eventos y feriados imputados como cero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50592"/>
          <a:ext cx="11091672" cy="2706624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6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Tratamiento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deportivos, sociales y feriados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1.728 de 2.088 registros (83 %)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Semanas sin evento registrado en la fuente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completan con cero, como supuesto explícito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Ingreso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840 de 2.088 registros (40 %)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antes de 2023 y frecuencia distinta a la semanal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Relleno hacia adelante solo dentro de cada región, nunca hacia atrás; luego se excluye del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 en medios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45 % del panel integrado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fuente solo cubre 2023 a 2025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imputa: el modelo se estima solo en semanas con inversión observada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Clima, eventos y distribución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5 % y 6 % del panel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tablas de contexto terminan antes que las ventas (2026)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imputa: esas semanas quedan fuera de la ventana del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Controles dentro de la ventana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Residuales, si los hay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Protección preventiva ante registros incompletos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del período de calibración, aplicada después a validación y prueba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48640" y="5486400"/>
            <a:ext cx="11091672" cy="694944"/>
          </a:xfrm>
          <a:prstGeom prst="roundRect">
            <a:avLst>
              <a:gd name="adj" fmla="val 7895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822960" y="5532120"/>
            <a:ext cx="10543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 a vigilar:  </a:t>
            </a:r>
            <a:r>
              <a:rPr lang="en-US" sz="11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parte de los eventos faltantes no fueran semanas sin evento sino eventos no registrados, su efecto quedaría subestimado. Es coherente con que eventos deportivos y sociales no resulten significativos.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Estacionariedad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1572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536192"/>
            <a:ext cx="8485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las series no </a:t>
            </a:r>
            <a:r>
              <a:rPr lang="en-US" sz="1200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fueran</a:t>
            </a: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estacionarias</a:t>
            </a: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dos variables que solo comparten una tendencia podrían parecer relacionadas en la regresión sin </a:t>
            </a:r>
            <a:r>
              <a:rPr lang="en-US" sz="1200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realmente</a:t>
            </a: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estarlo</a:t>
            </a: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(regresión espuria).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7589520" cy="2743200"/>
          </a:xfrm>
          <a:prstGeom prst="roundRect">
            <a:avLst>
              <a:gd name="adj" fmla="val 2000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22960" y="2670048"/>
            <a:ext cx="502920" cy="146304"/>
          </a:xfrm>
          <a:prstGeom prst="roundRect">
            <a:avLst>
              <a:gd name="adj" fmla="val 18750"/>
            </a:avLst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22960" y="2889504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Resultaron estacionarias y entran al modelo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4670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a explicar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346704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(hL)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76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3776472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ponderada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06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420624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y precipitación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6360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788920" y="4636008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Facebook, YouTube, TV local, TV abierta, TV de pago, radio, video digital e Instagram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412480" y="2468880"/>
            <a:ext cx="3227832" cy="2743200"/>
          </a:xfrm>
          <a:prstGeom prst="roundRect">
            <a:avLst>
              <a:gd name="adj" fmla="val 2000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686800" y="2670048"/>
            <a:ext cx="502920" cy="146304"/>
          </a:xfrm>
          <a:prstGeom prst="roundRect">
            <a:avLst>
              <a:gd name="adj" fmla="val 18750"/>
            </a:avLst>
          </a:prstGeom>
          <a:solidFill>
            <a:srgbClr val="8C4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8686800" y="2889504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resultó estacionaria y se excluye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3611880"/>
            <a:ext cx="2679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C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regional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397764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Además, no tiene datos antes de 2023 y solo se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la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imputaciones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 días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</a:t>
            </a: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376672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868680" y="5449824"/>
            <a:ext cx="10451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las variables del modelo son estacionarias, pueden usarse en la regresión sin transformarlas en diferencias y sin riesgo de relaciones espurias por tendencias compartidas.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Preparación de datos y por qué no alcanzan las correlaciones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preparación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892808"/>
            <a:ext cx="329184" cy="329184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4864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87452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sin registro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19456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1.728 registros sin dato en eventos y feriados se completaron con cero, como supuesto explícito.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916936"/>
            <a:ext cx="329184" cy="329184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548640" y="2916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89864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Feriado como conteo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218688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valores 0, 1 y 2, por lo que se trata como intensidad y no como indicador binario.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941064"/>
            <a:ext cx="329184" cy="329184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54864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22776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regional excluido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242816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datos antes de 2023, relleno solo hacia adelante y sin estacionariedad: queda fuera del modelo.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965192"/>
            <a:ext cx="329184" cy="329184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548640" y="4965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94690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Atípicos conservados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5266944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identificaron por rango intercuartílico dentro de cada grupo, sin eliminarlos. En Marca F, 13 % de las semanas supera el límite superior.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629400" y="1481328"/>
            <a:ext cx="5010912" cy="4160520"/>
          </a:xfrm>
          <a:prstGeom prst="roundRect">
            <a:avLst>
              <a:gd name="adj" fmla="val 1319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922008" y="1691640"/>
            <a:ext cx="4425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 falta un modelo conjunto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922008" y="21945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3B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0,17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2231136"/>
            <a:ext cx="3255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contemporánea más alta con el volumen: distribución ponderada. Ningún medio supera 0,09.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922008" y="318211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3B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0,33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3218688"/>
            <a:ext cx="3255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y YouTube se activan juntos. También vía pública y cine (0,25) y Facebook e Instagram (0,24).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922008" y="4224528"/>
            <a:ext cx="4425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publicidad actúa con rezago y rendimientos decrecientes, y los canales se superponen. Evaluarlos uno a uno atribuiría a un canal el efecto de una campaña combinada. Por eso el modelo estima todos los medios a la vez, con adstock y saturación, y separa la venta base.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modelar volumen y no facturación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91672" cy="932688"/>
          </a:xfrm>
          <a:prstGeom prst="roundRect">
            <a:avLst>
              <a:gd name="adj" fmla="val 5882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15910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 err="1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facturación</a:t>
            </a:r>
            <a:r>
              <a:rPr lang="en-US" sz="18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 </a:t>
            </a:r>
            <a:r>
              <a:rPr lang="en-US" sz="1800" b="1" dirty="0" err="1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</a:t>
            </a:r>
            <a:r>
              <a:rPr lang="en-US" sz="18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</a:t>
            </a:r>
            <a:r>
              <a:rPr lang="en-US" sz="1800" b="1" dirty="0" err="1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84248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facturación combina precio y cantidad.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Usada</a:t>
            </a: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como dependiente, cada coeficiente mezclaría el efecto sobre los hectolitros vendidos con el efecto sobre el precio cobrado.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092958" y="2514600"/>
            <a:ext cx="2567178" cy="1920240"/>
          </a:xfrm>
          <a:prstGeom prst="roundRect">
            <a:avLst>
              <a:gd name="adj" fmla="val 2857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330702" y="2697480"/>
            <a:ext cx="329184" cy="329184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3330702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/>
              <a:t>1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3330702" y="3118104"/>
            <a:ext cx="20916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mix distorsiona la facturación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330702" y="3593592"/>
            <a:ext cx="20916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desplazamiento hacia marcas premium sube la facturación sin vender más cerveza, y el modelo podría atribuirlo a los medios.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34456" y="2514600"/>
            <a:ext cx="2567178" cy="1920240"/>
          </a:xfrm>
          <a:prstGeom prst="roundRect">
            <a:avLst>
              <a:gd name="adj" fmla="val 2857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172200" y="2697480"/>
            <a:ext cx="329184" cy="329184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6172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/>
              <a:t>2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6172200" y="3118104"/>
            <a:ext cx="20916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palancas actúan sobre la demanda física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593592"/>
            <a:ext cx="20916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Distribución, clima y medios mueven cuánto se consume. En hectolitros, el efecto se traduce directo a producción e inventario.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626864"/>
            <a:ext cx="5385816" cy="1115568"/>
          </a:xfrm>
          <a:prstGeom prst="roundRect">
            <a:avLst>
              <a:gd name="adj" fmla="val 4918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822960" y="4754880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 poca información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5047488"/>
            <a:ext cx="4837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análisis exploratorio, volumen y facturación muestran trayectorias casi idénticas por región y subcanal. El volumen conserva la señal temporal y estacional.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54496" y="4626864"/>
            <a:ext cx="5385816" cy="1115568"/>
          </a:xfrm>
          <a:prstGeom prst="roundRect">
            <a:avLst>
              <a:gd name="adj" fmla="val 4918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6528816" y="4754880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de esta elección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528816" y="5047488"/>
            <a:ext cx="4837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volumen no mide valor: más hectolitros de productos baratos pueden significar menos margen. Traducir los resultados a facturación requiere sumar el precio por hectolitro al modelo.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Especificación del modelo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91672" cy="1783080"/>
          </a:xfrm>
          <a:prstGeom prst="roundRect">
            <a:avLst>
              <a:gd name="adj" fmla="val 3077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home/claude/abi/tex/eq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2626" y="1601572"/>
            <a:ext cx="6743700" cy="141457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337560"/>
            <a:ext cx="5120640" cy="1737360"/>
          </a:xfrm>
          <a:prstGeom prst="roundRect">
            <a:avLst>
              <a:gd name="adj" fmla="val 3158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777240" y="346557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base</a:t>
            </a:r>
            <a:endParaRPr lang="en-US" sz="1250" dirty="0"/>
          </a:p>
        </p:txBody>
      </p:sp>
      <p:pic>
        <p:nvPicPr>
          <p:cNvPr id="10" name="Image 1" descr="/home/claude/abi/tex/eq_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476" y="3942436"/>
            <a:ext cx="4550969" cy="27157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443484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Distribución, clima, eventos y efectos fijos de marca, de </a:t>
            </a:r>
            <a:r>
              <a:rPr lang="en-US" sz="105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</a:t>
            </a: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de </a:t>
            </a:r>
            <a:r>
              <a:rPr lang="en-US" sz="105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subcanal</a:t>
            </a: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05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</a:t>
            </a: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 que se vendería sin publicidad.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820156" y="3337560"/>
            <a:ext cx="2834640" cy="1737360"/>
          </a:xfrm>
          <a:prstGeom prst="roundRect">
            <a:avLst>
              <a:gd name="adj" fmla="val 3158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6048756" y="3465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</a:t>
            </a:r>
            <a:endParaRPr lang="en-US" sz="1250" dirty="0"/>
          </a:p>
        </p:txBody>
      </p:sp>
      <p:pic>
        <p:nvPicPr>
          <p:cNvPr id="14" name="Image 2" descr="/home/claude/abi/tex/eq_adst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2317" y="3942436"/>
            <a:ext cx="2090318" cy="27157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48756" y="44348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Memoria: θ es la parte del efecto que sobrevive a la semana siguiente.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805672" y="3337560"/>
            <a:ext cx="2834640" cy="1737360"/>
          </a:xfrm>
          <a:prstGeom prst="roundRect">
            <a:avLst>
              <a:gd name="adj" fmla="val 3158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 txBox="1"/>
          <p:nvPr/>
        </p:nvSpPr>
        <p:spPr>
          <a:xfrm>
            <a:off x="9034272" y="3465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Saturación de Hill</a:t>
            </a:r>
            <a:endParaRPr lang="en-US" sz="1250" dirty="0"/>
          </a:p>
        </p:txBody>
      </p:sp>
      <p:pic>
        <p:nvPicPr>
          <p:cNvPr id="18" name="Image 3" descr="/home/claude/abi/tex/eq_hi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7921" y="3811676"/>
            <a:ext cx="1590142" cy="5330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34272" y="44348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Rendimientos decrecientes: α da la forma y γ el punto de media saturación.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87552"/>
          </a:xfrm>
          <a:prstGeom prst="roundRect">
            <a:avLst>
              <a:gd name="adj" fmla="val 5556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 txBox="1"/>
          <p:nvPr/>
        </p:nvSpPr>
        <p:spPr>
          <a:xfrm>
            <a:off x="822960" y="53035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Notación.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marca, r región, s subcanal, t semana, j medio. 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distribución ponderada; C temperatura y precipitación; E eventos y feriados; M inversión en medios. Referencias: Marca C, Región A y Subcanal B.</a:t>
            </a:r>
            <a:endParaRPr lang="en-US" sz="1050" dirty="0"/>
          </a:p>
          <a:p>
            <a:pPr marL="0" indent="0">
              <a:buNone/>
            </a:pPr>
            <a:r>
              <a:rPr lang="en-US" sz="1050" dirty="0" err="1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</a:t>
            </a:r>
            <a:r>
              <a:rPr lang="en-US" sz="10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0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mínimos</a:t>
            </a:r>
            <a:r>
              <a:rPr lang="en-US" sz="10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cuadrados</a:t>
            </a:r>
            <a:r>
              <a:rPr lang="en-US" sz="10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ordinarios</a:t>
            </a:r>
            <a:r>
              <a:rPr lang="en-US" sz="10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050" dirty="0" err="1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retransformación</a:t>
            </a:r>
            <a:r>
              <a:rPr lang="en-US" sz="10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hectolitros con smearing de Duan.</a:t>
            </a:r>
            <a:endParaRPr lang="en-US" sz="1050" dirty="0"/>
          </a:p>
        </p:txBody>
      </p:sp>
      <p:pic>
        <p:nvPicPr>
          <p:cNvPr id="22" name="Image 4" descr="/home/claude/abi/tex/eq_p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5330952"/>
            <a:ext cx="1723644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961120" y="5669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porcentual de un coeficiente, con lo demás constante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EMPÍRICA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y ventana de estimación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483864" cy="1645920"/>
          </a:xfrm>
          <a:prstGeom prst="roundRect">
            <a:avLst>
              <a:gd name="adj" fmla="val 3333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1901952"/>
            <a:ext cx="292608" cy="292608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dependiente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log1p(volume_hl)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Retransformado con smearing de Duan (1,390)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2544" y="1645920"/>
            <a:ext cx="3483864" cy="1645920"/>
          </a:xfrm>
          <a:prstGeom prst="roundRect">
            <a:avLst>
              <a:gd name="adj" fmla="val 3333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26864" y="1901952"/>
            <a:ext cx="292608" cy="292608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62686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2286000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Granularidad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26864" y="256032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x marca x región x subcanal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56448" y="1645920"/>
            <a:ext cx="3483864" cy="1645920"/>
          </a:xfrm>
          <a:prstGeom prst="roundRect">
            <a:avLst>
              <a:gd name="adj" fmla="val 3333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430768" y="1901952"/>
            <a:ext cx="292608" cy="292608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8430768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2286000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56032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07/01/2023 a 17/05/2025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semanas, 17,856 observaciones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3483864" cy="1645920"/>
          </a:xfrm>
          <a:prstGeom prst="roundRect">
            <a:avLst>
              <a:gd name="adj" fmla="val 3333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22960" y="3776472"/>
            <a:ext cx="292608" cy="292608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822960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160520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43484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24/05/2025 a 27/12/2025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semanas, 4,002 observaciones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52544" y="3520440"/>
            <a:ext cx="3483864" cy="1645920"/>
          </a:xfrm>
          <a:prstGeom prst="roundRect">
            <a:avLst>
              <a:gd name="adj" fmla="val 3333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626864" y="3776472"/>
            <a:ext cx="292608" cy="292608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4626864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626864" y="4160520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integradas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626864" y="443484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Ventas, inversión en medios, distribución en punto de venta y contexto regional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56448" y="3520440"/>
            <a:ext cx="3483864" cy="1645920"/>
          </a:xfrm>
          <a:prstGeom prst="roundRect">
            <a:avLst>
              <a:gd name="adj" fmla="val 3333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430768" y="3776472"/>
            <a:ext cx="292608" cy="292608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8430768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430768" y="4160520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Exclusión explícita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43484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regional: cobertura incompleta y alta proporción de imputación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5778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corte temporal es estricto: la prueba nunca participa en la calibración de parámetros ni en la selección de especificación.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Adstock y </a:t>
            </a:r>
            <a:r>
              <a:rPr lang="en-US" sz="3000" b="1" dirty="0" err="1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saturación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  ·  ADSTOCK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5362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publicidad deja memoria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77356" y="1417320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 ·  SATURACIÓN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77356" y="1645920"/>
            <a:ext cx="5362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peso adicional rinde menos</a:t>
            </a:r>
            <a:endParaRPr lang="en-US" sz="14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57200" y="1965960"/>
          <a:ext cx="5454396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"/>
          <p:cNvGraphicFramePr/>
          <p:nvPr/>
        </p:nvGraphicFramePr>
        <p:xfrm>
          <a:off x="6185916" y="1965960"/>
          <a:ext cx="5454396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133088"/>
            <a:ext cx="5362956" cy="2029968"/>
          </a:xfrm>
          <a:prstGeom prst="roundRect">
            <a:avLst>
              <a:gd name="adj" fmla="val 2703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777240" y="42976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C89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1325880" y="4389120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Theta: cuánto dura el Recuerdo de la </a:t>
            </a:r>
            <a:r>
              <a:rPr lang="en-US" sz="1300" b="1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864608"/>
            <a:ext cx="490575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parte del efecto de una campaña que sigue activa la semana siguiente. Con θ = 0,3 queda 30 % a la semana y casi nada a la tercera; con θ = 0,7, una cuarta parte del efecto sigue viva al cabo de un mes. Facebook, YouTube y TV local resultaron de memoria corta (0,3); Instagram y radio, de memoria larga (0,7).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77356" y="4133088"/>
            <a:ext cx="2567178" cy="2029968"/>
          </a:xfrm>
          <a:prstGeom prst="roundRect">
            <a:avLst>
              <a:gd name="adj" fmla="val 2703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6505956" y="42976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C89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7054596" y="4389120"/>
            <a:ext cx="15613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Alfa: la forma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505956" y="4864608"/>
            <a:ext cx="210997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α = 1, cada peso rinde un poco menos que el anterior desde el primero. Con α = 2, la curva tiene forma de S: hace falta un mínimo de inversión antes de que el canal empiece a rendir.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9073134" y="4133088"/>
            <a:ext cx="2567178" cy="2029968"/>
          </a:xfrm>
          <a:prstGeom prst="roundRect">
            <a:avLst>
              <a:gd name="adj" fmla="val 2703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9301734" y="42976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C89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</a:t>
            </a:r>
            <a:endParaRPr lang="en-US" sz="2800" dirty="0"/>
          </a:p>
        </p:txBody>
      </p:sp>
      <p:sp>
        <p:nvSpPr>
          <p:cNvPr id="22" name="Text 18"/>
          <p:cNvSpPr txBox="1"/>
          <p:nvPr/>
        </p:nvSpPr>
        <p:spPr>
          <a:xfrm>
            <a:off x="9728454" y="4288536"/>
            <a:ext cx="178993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Gamma: </a:t>
            </a:r>
            <a:r>
              <a:rPr lang="en-US" sz="1300" b="1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llegando</a:t>
            </a: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b="1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mitad</a:t>
            </a: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m</a:t>
            </a:r>
            <a:r>
              <a:rPr lang="es-SV" sz="1300" b="1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áximo</a:t>
            </a:r>
            <a:r>
              <a:rPr lang="es-SV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efecto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9301734" y="4864608"/>
            <a:ext cx="210997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presión publicitaria con la que el canal logra la mitad de su efecto máximo. Un γ bajo indica que se satura rápido; uno alto, que admite más inversión antes de aplanarse.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Calibración de medios por canal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canal se evaluó con 18 combinaciones de θ, α y γ. </a:t>
            </a:r>
          </a:p>
          <a:p>
            <a:pPr marL="0" indent="0">
              <a:buNone/>
            </a:pPr>
            <a:r>
              <a:rPr lang="en-US" sz="12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en-US" sz="1250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seleccionó</a:t>
            </a:r>
            <a:r>
              <a:rPr lang="en-US" sz="12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major con base </a:t>
            </a:r>
            <a:r>
              <a:rPr lang="en-US" sz="1250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250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r>
              <a:rPr lang="en-US" sz="12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RMSE en la ventana de </a:t>
            </a:r>
            <a:r>
              <a:rPr lang="en-US" sz="1250" dirty="0" err="1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r>
              <a:rPr lang="en-US" sz="12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583680" cy="296265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 (memoria)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(forma)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 (media saturación)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YouTube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TV local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digital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Instagram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TV abierta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TV de pago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52360" y="2057400"/>
            <a:ext cx="4187952" cy="1508760"/>
          </a:xfrm>
          <a:prstGeom prst="roundRect">
            <a:avLst>
              <a:gd name="adj" fmla="val 3636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E3B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de 14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canales clasificados como no concluyentes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3017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Cine, display y búsqueda, publicidad exterior, medios impresos, TikTok y Twitter: ninguna combinación produjo efecto positivo.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52360" y="3703320"/>
            <a:ext cx="4187952" cy="1325880"/>
          </a:xfrm>
          <a:prstGeom prst="roundRect">
            <a:avLst>
              <a:gd name="adj" fmla="val 4138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772668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preespecificada</a:t>
            </a:r>
            <a:endParaRPr lang="en-US" sz="1200" dirty="0"/>
          </a:p>
        </p:txBody>
      </p:sp>
      <p:sp>
        <p:nvSpPr>
          <p:cNvPr id="7" name="Text 11"/>
          <p:cNvSpPr txBox="1"/>
          <p:nvPr/>
        </p:nvSpPr>
        <p:spPr>
          <a:xfrm>
            <a:off x="7726680" y="417880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fijó antes de ver resultados que el MMM estándar se preferiría por parsimonia si su RMSE no superaba en 5 % al calibrado. Lo superó en 6,71 %, por lo que se mantuvo el calibrado.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2578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calibración: 07/01/2023 a 23/11/2024. Ventana de validación: 30/11/2024 a 17/05/2025. La prueba no interviene.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Adstock y saturación </a:t>
            </a:r>
            <a:r>
              <a:rPr lang="en-US" sz="3000" b="1" dirty="0" err="1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</a:t>
            </a: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canal </a:t>
            </a:r>
            <a:r>
              <a:rPr lang="en-US" sz="3000" b="1" dirty="0" err="1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publicitario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Memoria: cuánto dura el efecto</a:t>
            </a:r>
            <a:endParaRPr lang="en-US" sz="1300" dirty="0"/>
          </a:p>
        </p:txBody>
      </p:sp>
      <p:pic>
        <p:nvPicPr>
          <p:cNvPr id="7" name="Image 0" descr="/home/claude/abi/adstock_can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19072"/>
            <a:ext cx="3840480" cy="357530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663440" y="1417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Posición reciente en la curva de saturación</a:t>
            </a:r>
            <a:endParaRPr lang="en-US" sz="1300" dirty="0"/>
          </a:p>
        </p:txBody>
      </p:sp>
      <p:pic>
        <p:nvPicPr>
          <p:cNvPr id="9" name="Image 1" descr="/home/claude/abi/saturacion_cana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719072"/>
            <a:ext cx="6949440" cy="3474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5212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Punto: mediana de las últimas ocho semanas (08/11 a 27/12/2025); el porcentaje indica qué parte del efecto máximo ya se alcanza. </a:t>
            </a:r>
            <a:r>
              <a:rPr lang="en-US" sz="9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</a:t>
            </a:r>
            <a:r>
              <a:rPr lang="en-US" sz="9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5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</a:t>
            </a:r>
            <a:r>
              <a:rPr lang="en-US" sz="9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positive </a:t>
            </a:r>
            <a:r>
              <a:rPr lang="en-US" sz="95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significativa</a:t>
            </a:r>
            <a:r>
              <a:rPr lang="en-US" sz="9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950" b="1" dirty="0">
                <a:solidFill>
                  <a:srgbClr val="8C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</a:t>
            </a:r>
            <a:r>
              <a:rPr lang="en-US" sz="9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negative </a:t>
            </a:r>
            <a:r>
              <a:rPr lang="en-US" sz="95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significativa</a:t>
            </a:r>
            <a:r>
              <a:rPr lang="en-US" sz="9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gris: no significativa.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548640" y="5596128"/>
            <a:ext cx="11091672" cy="603504"/>
          </a:xfrm>
          <a:prstGeom prst="roundRect">
            <a:avLst>
              <a:gd name="adj" fmla="val 9091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 txBox="1"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Lectura: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Facebook, YouTube y TV local la mitad del efecto se disipa en menos de una semana. TV local combina señal positiva y margen en su curva (30 %), por lo que es el mejor candidato para probar más inversión; Facebook ya opera cerca del techo (92 %).</a:t>
            </a:r>
            <a:endParaRPr 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12FD1-178C-65ED-C604-7604D2B51945}"/>
              </a:ext>
            </a:extLst>
          </p:cNvPr>
          <p:cNvSpPr txBox="1"/>
          <p:nvPr/>
        </p:nvSpPr>
        <p:spPr>
          <a:xfrm>
            <a:off x="8632952" y="686907"/>
            <a:ext cx="3172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Facebook </a:t>
            </a:r>
            <a:r>
              <a:rPr lang="en-US" sz="1200" dirty="0" err="1"/>
              <a:t>ya</a:t>
            </a:r>
            <a:r>
              <a:rPr lang="en-US" sz="1200" dirty="0"/>
              <a:t> </a:t>
            </a:r>
            <a:r>
              <a:rPr lang="en-US" sz="1200" dirty="0" err="1"/>
              <a:t>está</a:t>
            </a:r>
            <a:r>
              <a:rPr lang="en-US" sz="1200" dirty="0"/>
              <a:t> </a:t>
            </a:r>
            <a:r>
              <a:rPr lang="en-US" sz="1200" dirty="0" err="1"/>
              <a:t>casi</a:t>
            </a:r>
            <a:r>
              <a:rPr lang="en-US" sz="1200" dirty="0"/>
              <a:t> </a:t>
            </a:r>
            <a:r>
              <a:rPr lang="en-US" sz="1200" dirty="0" err="1"/>
              <a:t>lleno</a:t>
            </a:r>
            <a:r>
              <a:rPr lang="en-US" sz="1200" dirty="0"/>
              <a:t> (92%): </a:t>
            </a:r>
            <a:r>
              <a:rPr lang="en-US" sz="1200" dirty="0" err="1"/>
              <a:t>más</a:t>
            </a:r>
            <a:r>
              <a:rPr lang="en-US" sz="1200" dirty="0"/>
              <a:t> </a:t>
            </a:r>
            <a:r>
              <a:rPr lang="en-US" sz="1200" dirty="0" err="1"/>
              <a:t>inversión</a:t>
            </a:r>
            <a:r>
              <a:rPr lang="en-US" sz="1200" dirty="0"/>
              <a:t> ahí </a:t>
            </a:r>
            <a:r>
              <a:rPr lang="en-US" sz="1200" dirty="0" err="1"/>
              <a:t>rinde</a:t>
            </a:r>
            <a:r>
              <a:rPr lang="en-US" sz="1200" dirty="0"/>
              <a:t> poco. TV local, </a:t>
            </a:r>
            <a:r>
              <a:rPr lang="en-US" sz="1200" dirty="0" err="1"/>
              <a:t>en</a:t>
            </a:r>
            <a:r>
              <a:rPr lang="en-US" sz="1200" dirty="0"/>
              <a:t> </a:t>
            </a:r>
            <a:r>
              <a:rPr lang="en-US" sz="1200" dirty="0" err="1"/>
              <a:t>cambio</a:t>
            </a:r>
            <a:r>
              <a:rPr lang="en-US" sz="1200" dirty="0"/>
              <a:t>, </a:t>
            </a:r>
            <a:r>
              <a:rPr lang="en-US" sz="1200" dirty="0" err="1"/>
              <a:t>está</a:t>
            </a:r>
            <a:r>
              <a:rPr lang="en-US" sz="1200" dirty="0"/>
              <a:t> al 30 % y con </a:t>
            </a:r>
            <a:r>
              <a:rPr lang="en-US" sz="1200" dirty="0" err="1"/>
              <a:t>evidencia</a:t>
            </a:r>
            <a:r>
              <a:rPr lang="en-US" sz="1200" dirty="0"/>
              <a:t> de </a:t>
            </a:r>
            <a:r>
              <a:rPr lang="en-US" sz="1200" dirty="0" err="1"/>
              <a:t>que</a:t>
            </a:r>
            <a:r>
              <a:rPr lang="en-US" sz="1200" dirty="0"/>
              <a:t> </a:t>
            </a:r>
            <a:r>
              <a:rPr lang="en-US" sz="1200" dirty="0" err="1"/>
              <a:t>funciona</a:t>
            </a:r>
            <a:r>
              <a:rPr lang="en-US" sz="1200" dirty="0"/>
              <a:t>. Por </a:t>
            </a:r>
            <a:r>
              <a:rPr lang="en-US" sz="1200" dirty="0" err="1"/>
              <a:t>eso</a:t>
            </a:r>
            <a:r>
              <a:rPr lang="en-US" sz="1200" dirty="0"/>
              <a:t> es el primer </a:t>
            </a:r>
            <a:r>
              <a:rPr lang="en-US" sz="1200" dirty="0" err="1"/>
              <a:t>candidato</a:t>
            </a:r>
            <a:r>
              <a:rPr lang="en-US" sz="1200" dirty="0"/>
              <a:t> para </a:t>
            </a:r>
            <a:r>
              <a:rPr lang="en-US" sz="1200" dirty="0" err="1"/>
              <a:t>probar</a:t>
            </a:r>
            <a:r>
              <a:rPr lang="en-US" sz="1200" dirty="0"/>
              <a:t> </a:t>
            </a:r>
            <a:r>
              <a:rPr lang="en-US" sz="1200" dirty="0" err="1"/>
              <a:t>más</a:t>
            </a:r>
            <a:r>
              <a:rPr lang="en-US" sz="1200" dirty="0"/>
              <a:t> inversion.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Coeficientes</a:t>
            </a: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000" b="1" dirty="0" err="1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estimados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home/claude/abi/coef_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81328"/>
            <a:ext cx="6629400" cy="41056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5650992"/>
            <a:ext cx="6492240" cy="548640"/>
          </a:xfrm>
          <a:prstGeom prst="roundRect">
            <a:avLst>
              <a:gd name="adj" fmla="val 10000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77240" y="56875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Facebook, YouTube y TV local tienen barras enteramente positivas, pero anchas: la señal existe, su tamaño es incierto.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69480" y="1481328"/>
            <a:ext cx="4370832" cy="841248"/>
          </a:xfrm>
          <a:prstGeom prst="roundRect">
            <a:avLst>
              <a:gd name="adj" fmla="val 6522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7525512" y="1572768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punto responde una pregunta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25512" y="1828800"/>
            <a:ext cx="3858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solo cambia esta variable y todo lo demás queda igual, ¿cuánto cambia el volumen vendido?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269480" y="2414016"/>
            <a:ext cx="4370832" cy="868680"/>
          </a:xfrm>
          <a:prstGeom prst="roundRect">
            <a:avLst>
              <a:gd name="adj" fmla="val 6316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7525512" y="2487168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muestra la </a:t>
            </a:r>
            <a:r>
              <a:rPr lang="en-US" sz="1200" b="1" dirty="0" err="1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incertidumbre</a:t>
            </a:r>
            <a:r>
              <a:rPr lang="en-US" sz="12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(interval de confianza)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525512" y="2761488"/>
            <a:ext cx="3858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rango donde probablemente está el efecto real. Si cruza la línea del cero, no podemos asegurar que el efecto exista.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269480" y="3374136"/>
            <a:ext cx="4370832" cy="2825496"/>
          </a:xfrm>
          <a:prstGeom prst="roundRect">
            <a:avLst>
              <a:gd name="adj" fmla="val 1942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7525512" y="34838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gráfica a la práctica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525512" y="3739896"/>
            <a:ext cx="3858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todo lo demás queda igual. Efecto = 100 · (e</a:t>
            </a:r>
            <a:r>
              <a:rPr lang="en-US" sz="950" baseline="3000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</a:t>
            </a:r>
            <a:r>
              <a:rPr lang="en-US" sz="950" dirty="0">
                <a:solidFill>
                  <a:srgbClr val="D9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− 1)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525512" y="3977640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semana un grado más cálida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525512" y="4169664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100" baseline="300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0,032</a:t>
            </a: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− 1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314432" y="3995928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+3,2 %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525512" y="4398264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marca gana 1 punto de cobertura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525512" y="4590288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100" baseline="300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0,016</a:t>
            </a: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− 1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314432" y="4416552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+1,6 %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525512" y="4818888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tiene un feriado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525512" y="5010912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100" baseline="300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−0,116</a:t>
            </a: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314432" y="4837176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−11 %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525512" y="5239512"/>
            <a:ext cx="309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con su presión actual, frente a no invertir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7525512" y="5431536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100" baseline="300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0,296 × 0,92</a:t>
            </a: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314432" y="5257800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+31 %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507224" y="5669280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Subcanal C frente a Subcanal B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525512" y="5852160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100" baseline="300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2,289</a:t>
            </a:r>
            <a:r>
              <a:rPr lang="en-US" sz="1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9,9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314432" y="56784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 veces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coeficiente a efecto: el cálculo de cada variable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sobre el volumen = 100 · (e</a:t>
            </a:r>
            <a:r>
              <a:rPr lang="en-US" sz="1200" b="1" baseline="300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</a:t>
            </a:r>
            <a:r>
              <a:rPr lang="en-US" sz="12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− 1), con todo lo demás constante. En gris, coeficientes no significativos al 10 %.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 txBox="1"/>
          <p:nvPr/>
        </p:nvSpPr>
        <p:spPr>
          <a:xfrm>
            <a:off x="822960" y="5760720"/>
            <a:ext cx="10543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práctica:  </a:t>
            </a:r>
            <a:r>
              <a:rPr lang="en-US" sz="105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coeficientes menores a 0,1, 100 · β ya aproxima el efecto (0,032 da 3,2 %); con mayores, hay que usar la fórmula completa (2,289 da 886 %, no 229 %).</a:t>
            </a:r>
            <a:endParaRPr lang="en-US" sz="105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2D6E907-B9A7-5C6E-C42F-0A3B9C58FF50}"/>
              </a:ext>
            </a:extLst>
          </p:cNvPr>
          <p:cNvSpPr txBox="1"/>
          <p:nvPr/>
        </p:nvSpPr>
        <p:spPr>
          <a:xfrm>
            <a:off x="2807716" y="1760217"/>
            <a:ext cx="54086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unidad adicional; en medios, de 0 a saturación total</a:t>
            </a:r>
            <a:endParaRPr lang="en-US" sz="1050" dirty="0"/>
          </a:p>
        </p:txBody>
      </p:sp>
      <p:graphicFrame>
        <p:nvGraphicFramePr>
          <p:cNvPr id="14" name="Table 1">
            <a:extLst>
              <a:ext uri="{FF2B5EF4-FFF2-40B4-BE49-F238E27FC236}">
                <a16:creationId xmlns:a16="http://schemas.microsoft.com/office/drawing/2014/main" id="{C08C36F1-12E5-0382-56D2-970921CA56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183896"/>
              </p:ext>
            </p:extLst>
          </p:nvPr>
        </p:nvGraphicFramePr>
        <p:xfrm>
          <a:off x="2807716" y="2025393"/>
          <a:ext cx="5408676" cy="3593595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Cálculo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Distribución ponderada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0,016</a:t>
                      </a: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Temperatura promedio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0,032</a:t>
                      </a: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+3,2 %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Precipitación promedio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−0,002</a:t>
                      </a: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−0,2 %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Feriado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−0,116</a:t>
                      </a: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−11,0 %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 social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0,124</a:t>
                      </a: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+13,2 %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 deportivo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0,057</a:t>
                      </a: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+5,9 %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0,296</a:t>
                      </a: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+34,5 %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YouTube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0,192</a:t>
                      </a: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+21,2 %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TV local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0,201</a:t>
                      </a: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+22,3 %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TV abierta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−0,092</a:t>
                      </a:r>
                      <a:r>
                        <a:rPr lang="en-US" sz="100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−8,8 %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TV de pago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−0,047</a:t>
                      </a: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−4,5 %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0,033</a:t>
                      </a: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+3,4 %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digital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−0,034</a:t>
                      </a: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−3,4 %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95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000" baseline="30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−0,086</a:t>
                      </a: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A79E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−8,2 %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estructurales: escala, no respuesta publicitaria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675120" cy="19202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con mayor efecto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 vs. referencia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Subcanal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Subcanal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+886 %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Subcanal 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Región 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Región 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 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+544 %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 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+447 %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6576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significativos al 1 %, salvo la Región C, que no difiere de la referencia.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52360" y="1645920"/>
            <a:ext cx="4187952" cy="2331720"/>
          </a:xfrm>
          <a:prstGeom prst="roundRect">
            <a:avLst>
              <a:gd name="adj" fmla="val 2353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7726680" y="1847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21945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diferencias capturan tamaño, cobertura, portafolio y condiciones comerciales. No miden sensibilidad a la publicidad y no justifican concentrar inversión de medios en Región D o Subcanal C.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206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haría falta para recomendar por territorio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526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Interacciones entre medios y segmentos, para estimar respuestas diferenciadas.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Elasticidades por grupo, no un coeficiente común a todo el panel.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 incrementales con mercados de control.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Desempeño dentro y fuera de muestra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en hectolitros. Entrenamiento: 17.851 observaciones (ene 2023 a may 2025). Prueba: 4.002 observaciones (may a dic 2025).</a:t>
            </a:r>
            <a:endParaRPr lang="en-US" sz="11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1938528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909560" y="1481328"/>
            <a:ext cx="3730752" cy="1444752"/>
          </a:xfrm>
          <a:prstGeom prst="roundRect">
            <a:avLst>
              <a:gd name="adj" fmla="val 3797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8156448" y="16184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sobreajuste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156448" y="193852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MMM calibrado explica 57,9 % de la variación en entrenamiento y 65,0 % en prueba: no pierde capacidad con semanas nuevas.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909560" y="3054096"/>
            <a:ext cx="3730752" cy="1444752"/>
          </a:xfrm>
          <a:prstGeom prst="roundRect">
            <a:avLst>
              <a:gd name="adj" fmla="val 3797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8156448" y="31912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es la que discrimina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156448" y="3511296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muestra, los cuatro primeros modelos empatan (57,6 % a 58,0 %). Fuera de muestra, solo el calibrado supera a la venta base; los otros dos caen a 54,7 %.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09560" y="4626864"/>
            <a:ext cx="3730752" cy="1444752"/>
          </a:xfrm>
          <a:prstGeom prst="roundRect">
            <a:avLst>
              <a:gd name="adj" fmla="val 3797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8156448" y="476402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de pronóstico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5084064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rezago anual, el R² sube a 80,6 % y 86,2 %. El estacional ingenuo, que no estima parámetros, logra 78,4 % en prueba.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Backtesting: cuatro ventanas de ocho semanas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fuera de muestra por ventana de 2025. Entrenamiento expansivo y parámetros de medios congelados antes de la prueba.</a:t>
            </a:r>
            <a:endParaRPr lang="en-US" sz="11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909560" y="1481328"/>
            <a:ext cx="3730752" cy="1874520"/>
          </a:xfrm>
          <a:prstGeom prst="roundRect">
            <a:avLst>
              <a:gd name="adj" fmla="val 2927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156448" y="160934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global de las cuatro ventanas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156448" y="19751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MMM calibrado + rezago 52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6070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C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0,867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156448" y="23042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MMM calibrado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607040" y="23042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0,659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56448" y="26334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base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607040" y="26334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0,636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156448" y="29626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MMM estándar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607040" y="29626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0,575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909560" y="3474720"/>
            <a:ext cx="3730752" cy="1097280"/>
          </a:xfrm>
          <a:prstGeom prst="roundRect">
            <a:avLst>
              <a:gd name="adj" fmla="val 5000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156448" y="35935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modesta, pero estable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156448" y="390448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MMM calibrado supera a la venta base y al MMM estándar en las cuatro ventanas.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909560" y="4690872"/>
            <a:ext cx="3730752" cy="1417320"/>
          </a:xfrm>
          <a:prstGeom prst="roundRect">
            <a:avLst>
              <a:gd name="adj" fmla="val 3871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8156448" y="480974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usos, dos modelos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156448" y="51206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leer medios, el MMM calibrado. Para pronosticar, el híbrido con rezago anual, el más alto en todas las ventanas. Su rezago capta persistencia, no efecto publicitario.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DIRECCIÓN DE MARKETING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recomendamos probar antes de reasignar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62956" cy="1572768"/>
          </a:xfrm>
          <a:prstGeom prst="roundRect">
            <a:avLst>
              <a:gd name="adj" fmla="val 3488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347472" cy="347472"/>
          </a:xfrm>
          <a:prstGeom prst="ellipse">
            <a:avLst/>
          </a:prstGeom>
          <a:solidFill>
            <a:srgbClr val="8C4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41248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1956816"/>
            <a:ext cx="42656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presupuesto no se asignó al azar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432304"/>
            <a:ext cx="477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campañas suelen activarse cuando se espera más demanda. El modelo ve la coincidencia, pero no puede separar si la publicidad causó la venta o la acompañó.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77356" y="1645920"/>
            <a:ext cx="5362956" cy="1572768"/>
          </a:xfrm>
          <a:prstGeom prst="roundRect">
            <a:avLst>
              <a:gd name="adj" fmla="val 3488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569964" y="1920240"/>
            <a:ext cx="347472" cy="347472"/>
          </a:xfrm>
          <a:prstGeom prst="ellipse">
            <a:avLst/>
          </a:prstGeom>
          <a:solidFill>
            <a:srgbClr val="8C4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569964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082028" y="1956816"/>
            <a:ext cx="42656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 precio y promociones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69964" y="2432304"/>
            <a:ext cx="477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esos datos, parte de lo que el modelo asocia a medios podría deberse a descuentos o cambios de precio en las mismas semanas.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62956" cy="1572768"/>
          </a:xfrm>
          <a:prstGeom prst="roundRect">
            <a:avLst>
              <a:gd name="adj" fmla="val 3488"/>
            </a:avLst>
          </a:prstGeom>
          <a:solidFill>
            <a:srgbClr val="F5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41248" y="3749040"/>
            <a:ext cx="347472" cy="347472"/>
          </a:xfrm>
          <a:prstGeom prst="ellipse">
            <a:avLst/>
          </a:prstGeom>
          <a:solidFill>
            <a:srgbClr val="8C4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841248" y="3749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53312" y="3785616"/>
            <a:ext cx="42656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tamaño del efecto es incierto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261104"/>
            <a:ext cx="477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qué canales muestran señal positiva, pero no con precisión cuánto volumen adicional genera cada peso invertido.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77356" y="3474720"/>
            <a:ext cx="5362956" cy="1572768"/>
          </a:xfrm>
          <a:prstGeom prst="roundRect">
            <a:avLst>
              <a:gd name="adj" fmla="val 3488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69964" y="3749040"/>
            <a:ext cx="347472" cy="347472"/>
          </a:xfrm>
          <a:prstGeom prst="ellipse">
            <a:avLst/>
          </a:prstGeom>
          <a:solidFill>
            <a:srgbClr val="C891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569964" y="3749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082028" y="3785616"/>
            <a:ext cx="42656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prueba controlada resuelve las tres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69964" y="4261104"/>
            <a:ext cx="477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mercados con y sin aumento de inversión mide el efecto incremental real y el costo por hectolitro adicional.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8A6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DIRECCIÓN DE MARKETING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B25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Recomendación: hacer rendir más cada peso de marketing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mixtos</a:t>
            </a: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16724"/>
              </p:ext>
            </p:extLst>
          </p:nvPr>
        </p:nvGraphicFramePr>
        <p:xfrm>
          <a:off x="548640" y="1417320"/>
          <a:ext cx="11091672" cy="2724912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gana marketing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medimos el éxito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7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Inmediato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Proteger la cobertura en las tiendas que más venden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cobertura pesa más de cinco veces que el mejor medio: cada punto suma cerca de 1,6 % de volumen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campaña rinde más: no se paga pauta que termina en góndola vacía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Distribución ponderada y quiebres, por marca y región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semanas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Probar más inversión en TV local y YouTube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Señal positiva y margen en su curva: TV local opera al 30 % y YouTube al 75 %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dónde el siguiente peso compra más volumen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Volumen y costo por hectolitro incremental frente a mercados de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semanas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Probar Facebook con menos inversión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Aporta, pero opera al 92 % de su curva: más gasto rendiría como máximo 2,4 %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Liberar presupuesto sin perder volumen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Volumen en mercados con recorte frente a mercados de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8A64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paralelo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Pausa controlada en canales sin señal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de 14 canales no muestran efecto medible con la inversión 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Reasignar fondos hacia lo que funciona, con evidencia propia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5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Volumen con y sin inversión en mercados comparables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956048"/>
            <a:ext cx="11091672" cy="1243584"/>
          </a:xfrm>
          <a:prstGeom prst="roundRect">
            <a:avLst>
              <a:gd name="adj" fmla="val 4412"/>
            </a:avLst>
          </a:prstGeom>
          <a:solidFill>
            <a:srgbClr val="1C17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68680" y="50474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DE ACCION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30352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un presupuesto de prueba acotado por 8 semanas: más inversión en TV local y YouTube, menos en Facebook y pausa en los canales sin señal, cada uno contra mercados de control.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3017520"/>
            <a:ext cx="2377440" cy="2377440"/>
          </a:xfrm>
          <a:prstGeom prst="ellipse">
            <a:avLst/>
          </a:prstGeom>
          <a:solidFill>
            <a:srgbClr val="1C1714"/>
          </a:solidFill>
          <a:ln w="12700">
            <a:solidFill>
              <a:srgbClr val="C891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784080" y="2651760"/>
            <a:ext cx="1645920" cy="1645920"/>
          </a:xfrm>
          <a:prstGeom prst="ellipse">
            <a:avLst/>
          </a:prstGeom>
          <a:solidFill>
            <a:srgbClr val="1C1714"/>
          </a:solidFill>
          <a:ln w="12700">
            <a:solidFill>
              <a:srgbClr val="C891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31520" y="2377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20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 Y PREGUNTA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3B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Víctor Tablas  |  Economista y Data Scientist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AB InBev  |  Marketing Mix Model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5937</Words>
  <Application>Microsoft Office PowerPoint</Application>
  <PresentationFormat>Widescreen</PresentationFormat>
  <Paragraphs>557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Mix Model - Resultados - Challenge AB InBev</dc:title>
  <dc:subject>PptxGenJS Presentation</dc:subject>
  <dc:creator>Victor Tablas</dc:creator>
  <cp:lastModifiedBy>Víctor Tablas</cp:lastModifiedBy>
  <cp:revision>12</cp:revision>
  <dcterms:created xsi:type="dcterms:W3CDTF">2026-09-22T21:49:57Z</dcterms:created>
  <dcterms:modified xsi:type="dcterms:W3CDTF">2026-09-23T19:19:57Z</dcterms:modified>
</cp:coreProperties>
</file>