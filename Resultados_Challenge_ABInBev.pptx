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3.xml" ContentType="application/vnd.openxmlformats-officedocument.drawingml.chart+xml"/>
  <Override PartName="/ppt/notesSlides/notesSlide18.xml" ContentType="application/vnd.openxmlformats-officedocument.presentationml.notesSlide+xml"/>
  <Override PartName="/ppt/charts/chart4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61" r:id="rId4"/>
    <p:sldId id="262" r:id="rId5"/>
    <p:sldId id="260" r:id="rId6"/>
    <p:sldId id="263" r:id="rId7"/>
    <p:sldId id="264" r:id="rId8"/>
    <p:sldId id="266" r:id="rId9"/>
    <p:sldId id="265" r:id="rId10"/>
    <p:sldId id="259" r:id="rId11"/>
    <p:sldId id="267" r:id="rId12"/>
    <p:sldId id="268" r:id="rId13"/>
    <p:sldId id="269" r:id="rId14"/>
    <p:sldId id="270" r:id="rId15"/>
    <p:sldId id="271" r:id="rId16"/>
    <p:sldId id="274" r:id="rId17"/>
    <p:sldId id="275" r:id="rId18"/>
    <p:sldId id="276" r:id="rId19"/>
    <p:sldId id="277" r:id="rId20"/>
    <p:sldId id="280" r:id="rId21"/>
    <p:sldId id="279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07" y="3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θ = 0,3</c:v>
                </c:pt>
              </c:strCache>
            </c:strRef>
          </c:tx>
          <c:spPr>
            <a:ln w="31750" cap="flat">
              <a:solidFill>
                <a:srgbClr val="A79E93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A79E93"/>
              </a:solidFill>
              <a:ln w="9525" cap="flat">
                <a:solidFill>
                  <a:srgbClr val="A79E93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Sem 0</c:v>
                </c:pt>
                <c:pt idx="1">
                  <c:v>Sem 1</c:v>
                </c:pt>
                <c:pt idx="2">
                  <c:v>Sem 2</c:v>
                </c:pt>
                <c:pt idx="3">
                  <c:v>Sem 3</c:v>
                </c:pt>
                <c:pt idx="4">
                  <c:v>Sem 4</c:v>
                </c:pt>
                <c:pt idx="5">
                  <c:v>Sem 5</c:v>
                </c:pt>
                <c:pt idx="6">
                  <c:v>Sem 6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</c:v>
                </c:pt>
                <c:pt idx="1">
                  <c:v>30</c:v>
                </c:pt>
                <c:pt idx="2">
                  <c:v>9</c:v>
                </c:pt>
                <c:pt idx="3">
                  <c:v>2.7</c:v>
                </c:pt>
                <c:pt idx="4">
                  <c:v>0.8</c:v>
                </c:pt>
                <c:pt idx="5">
                  <c:v>0.2</c:v>
                </c:pt>
                <c:pt idx="6">
                  <c:v>0.1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FC1-4867-AC97-5333702FECD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θ = 0,5</c:v>
                </c:pt>
              </c:strCache>
            </c:strRef>
          </c:tx>
          <c:spPr>
            <a:ln w="31750" cap="flat">
              <a:solidFill>
                <a:srgbClr val="41545E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41545E"/>
              </a:solidFill>
              <a:ln w="9525" cap="flat">
                <a:solidFill>
                  <a:srgbClr val="41545E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Sem 0</c:v>
                </c:pt>
                <c:pt idx="1">
                  <c:v>Sem 1</c:v>
                </c:pt>
                <c:pt idx="2">
                  <c:v>Sem 2</c:v>
                </c:pt>
                <c:pt idx="3">
                  <c:v>Sem 3</c:v>
                </c:pt>
                <c:pt idx="4">
                  <c:v>Sem 4</c:v>
                </c:pt>
                <c:pt idx="5">
                  <c:v>Sem 5</c:v>
                </c:pt>
                <c:pt idx="6">
                  <c:v>Sem 6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100</c:v>
                </c:pt>
                <c:pt idx="1">
                  <c:v>50</c:v>
                </c:pt>
                <c:pt idx="2">
                  <c:v>25</c:v>
                </c:pt>
                <c:pt idx="3">
                  <c:v>12.5</c:v>
                </c:pt>
                <c:pt idx="4">
                  <c:v>6.2</c:v>
                </c:pt>
                <c:pt idx="5">
                  <c:v>3.1</c:v>
                </c:pt>
                <c:pt idx="6">
                  <c:v>1.6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FC1-4867-AC97-5333702FECD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θ = 0,7</c:v>
                </c:pt>
              </c:strCache>
            </c:strRef>
          </c:tx>
          <c:spPr>
            <a:ln w="31750" cap="flat">
              <a:solidFill>
                <a:srgbClr val="C8912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8912F"/>
              </a:solidFill>
              <a:ln w="9525" cap="flat">
                <a:solidFill>
                  <a:srgbClr val="C8912F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Sem 0</c:v>
                </c:pt>
                <c:pt idx="1">
                  <c:v>Sem 1</c:v>
                </c:pt>
                <c:pt idx="2">
                  <c:v>Sem 2</c:v>
                </c:pt>
                <c:pt idx="3">
                  <c:v>Sem 3</c:v>
                </c:pt>
                <c:pt idx="4">
                  <c:v>Sem 4</c:v>
                </c:pt>
                <c:pt idx="5">
                  <c:v>Sem 5</c:v>
                </c:pt>
                <c:pt idx="6">
                  <c:v>Sem 6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100</c:v>
                </c:pt>
                <c:pt idx="1">
                  <c:v>70</c:v>
                </c:pt>
                <c:pt idx="2">
                  <c:v>49</c:v>
                </c:pt>
                <c:pt idx="3">
                  <c:v>34.299999999999997</c:v>
                </c:pt>
                <c:pt idx="4">
                  <c:v>24</c:v>
                </c:pt>
                <c:pt idx="5">
                  <c:v>16.8</c:v>
                </c:pt>
                <c:pt idx="6">
                  <c:v>11.8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FC1-4867-AC97-5333702FEC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5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2DCD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E655B"/>
                    </a:solidFill>
                    <a:latin typeface="Calibri"/>
                  </a:defRPr>
                </a:pPr>
                <a:r>
                  <a:rPr lang="en-US" sz="900" b="0" i="0" u="none" strike="noStrike">
                    <a:solidFill>
                      <a:srgbClr val="6E655B"/>
                    </a:solidFill>
                    <a:latin typeface="Calibri"/>
                  </a:rPr>
                  <a:t>% del efecto aún activo</a:t>
                </a:r>
              </a:p>
            </c:rich>
          </c:tx>
          <c:overlay val="0"/>
        </c:title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55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2B252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α = 1</c:v>
                </c:pt>
              </c:strCache>
            </c:strRef>
          </c:tx>
          <c:spPr>
            <a:ln w="31750" cap="flat">
              <a:solidFill>
                <a:srgbClr val="41545E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Sheet1!$A$2:$A$14</c:f>
              <c:strCache>
                <c:ptCount val="13"/>
                <c:pt idx="0">
                  <c:v>0</c:v>
                </c:pt>
                <c:pt idx="2">
                  <c:v>0,5γ</c:v>
                </c:pt>
                <c:pt idx="4">
                  <c:v>γ</c:v>
                </c:pt>
                <c:pt idx="6">
                  <c:v>1,5γ</c:v>
                </c:pt>
                <c:pt idx="8">
                  <c:v>2γ</c:v>
                </c:pt>
                <c:pt idx="10">
                  <c:v>2,5γ</c:v>
                </c:pt>
                <c:pt idx="12">
                  <c:v>3γ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</c:v>
                </c:pt>
                <c:pt idx="1">
                  <c:v>20</c:v>
                </c:pt>
                <c:pt idx="2">
                  <c:v>33.299999999999997</c:v>
                </c:pt>
                <c:pt idx="3">
                  <c:v>42.9</c:v>
                </c:pt>
                <c:pt idx="4">
                  <c:v>50</c:v>
                </c:pt>
                <c:pt idx="5">
                  <c:v>55.6</c:v>
                </c:pt>
                <c:pt idx="6">
                  <c:v>60</c:v>
                </c:pt>
                <c:pt idx="7">
                  <c:v>63.6</c:v>
                </c:pt>
                <c:pt idx="8">
                  <c:v>66.7</c:v>
                </c:pt>
                <c:pt idx="9">
                  <c:v>69.2</c:v>
                </c:pt>
                <c:pt idx="10">
                  <c:v>71.400000000000006</c:v>
                </c:pt>
                <c:pt idx="11">
                  <c:v>73.3</c:v>
                </c:pt>
                <c:pt idx="12">
                  <c:v>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E05-46D2-8FC8-1BAE1C02304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α = 2</c:v>
                </c:pt>
              </c:strCache>
            </c:strRef>
          </c:tx>
          <c:spPr>
            <a:ln w="31750" cap="flat">
              <a:solidFill>
                <a:srgbClr val="C8912F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Sheet1!$A$2:$A$14</c:f>
              <c:strCache>
                <c:ptCount val="13"/>
                <c:pt idx="0">
                  <c:v>0</c:v>
                </c:pt>
                <c:pt idx="2">
                  <c:v>0,5γ</c:v>
                </c:pt>
                <c:pt idx="4">
                  <c:v>γ</c:v>
                </c:pt>
                <c:pt idx="6">
                  <c:v>1,5γ</c:v>
                </c:pt>
                <c:pt idx="8">
                  <c:v>2γ</c:v>
                </c:pt>
                <c:pt idx="10">
                  <c:v>2,5γ</c:v>
                </c:pt>
                <c:pt idx="12">
                  <c:v>3γ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0</c:v>
                </c:pt>
                <c:pt idx="1">
                  <c:v>5.9</c:v>
                </c:pt>
                <c:pt idx="2">
                  <c:v>20</c:v>
                </c:pt>
                <c:pt idx="3">
                  <c:v>36</c:v>
                </c:pt>
                <c:pt idx="4">
                  <c:v>50</c:v>
                </c:pt>
                <c:pt idx="5">
                  <c:v>61</c:v>
                </c:pt>
                <c:pt idx="6">
                  <c:v>69.2</c:v>
                </c:pt>
                <c:pt idx="7">
                  <c:v>75.400000000000006</c:v>
                </c:pt>
                <c:pt idx="8">
                  <c:v>80</c:v>
                </c:pt>
                <c:pt idx="9">
                  <c:v>83.5</c:v>
                </c:pt>
                <c:pt idx="10">
                  <c:v>86.2</c:v>
                </c:pt>
                <c:pt idx="11">
                  <c:v>88.3</c:v>
                </c:pt>
                <c:pt idx="12">
                  <c:v>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E05-46D2-8FC8-1BAE1C0230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E655B"/>
                    </a:solidFill>
                    <a:latin typeface="Calibri"/>
                  </a:defRPr>
                </a:pPr>
                <a:r>
                  <a:rPr lang="en-US" sz="900" b="0" i="0" u="none" strike="noStrike">
                    <a:solidFill>
                      <a:srgbClr val="6E655B"/>
                    </a:solidFill>
                    <a:latin typeface="Calibri"/>
                  </a:rPr>
                  <a:t>Presión publicitaria acumulada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5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2DCD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E655B"/>
                    </a:solidFill>
                    <a:latin typeface="Calibri"/>
                  </a:defRPr>
                </a:pPr>
                <a:r>
                  <a:rPr lang="en-US" sz="900" b="0" i="0" u="none" strike="noStrike">
                    <a:solidFill>
                      <a:srgbClr val="6E655B"/>
                    </a:solidFill>
                    <a:latin typeface="Calibri"/>
                  </a:rPr>
                  <a:t>% del efecto máximo</a:t>
                </a:r>
              </a:p>
            </c:rich>
          </c:tx>
          <c:overlay val="0"/>
        </c:title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55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2B252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Entrenamiento (dentro de muestra)</c:v>
                </c:pt>
              </c:strCache>
            </c:strRef>
          </c:tx>
          <c:spPr>
            <a:solidFill>
              <a:srgbClr val="41545E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2B252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Venta base</c:v>
                </c:pt>
                <c:pt idx="1">
                  <c:v>Medios sin transformar</c:v>
                </c:pt>
                <c:pt idx="2">
                  <c:v>MMM estándar</c:v>
                </c:pt>
                <c:pt idx="3">
                  <c:v>MMM calibrado</c:v>
                </c:pt>
                <c:pt idx="4">
                  <c:v>MMM calibrado + rezago 52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0.57799999999999996</c:v>
                </c:pt>
                <c:pt idx="1">
                  <c:v>0.57599999999999996</c:v>
                </c:pt>
                <c:pt idx="2">
                  <c:v>0.57999999999999996</c:v>
                </c:pt>
                <c:pt idx="3">
                  <c:v>0.57899999999999996</c:v>
                </c:pt>
                <c:pt idx="4">
                  <c:v>0.80600000000000005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6C-48C2-ACB9-200576FF444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Prueba (fuera de muestra)</c:v>
                </c:pt>
              </c:strCache>
            </c:strRef>
          </c:tx>
          <c:spPr>
            <a:solidFill>
              <a:srgbClr val="C8912F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2B252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Venta base</c:v>
                </c:pt>
                <c:pt idx="1">
                  <c:v>Medios sin transformar</c:v>
                </c:pt>
                <c:pt idx="2">
                  <c:v>MMM estándar</c:v>
                </c:pt>
                <c:pt idx="3">
                  <c:v>MMM calibrado</c:v>
                </c:pt>
                <c:pt idx="4">
                  <c:v>MMM calibrado + rezago 52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0.629</c:v>
                </c:pt>
                <c:pt idx="1">
                  <c:v>0.54700000000000004</c:v>
                </c:pt>
                <c:pt idx="2">
                  <c:v>0.54800000000000004</c:v>
                </c:pt>
                <c:pt idx="3">
                  <c:v>0.65</c:v>
                </c:pt>
                <c:pt idx="4">
                  <c:v>0.86199999999999999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E6C-48C2-ACB9-200576FF444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-1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5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2DCD2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55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
              <a:solidFill>
                <a:srgbClr val="2B252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Venta base</c:v>
                </c:pt>
              </c:strCache>
            </c:strRef>
          </c:tx>
          <c:spPr>
            <a:ln w="38100" cap="flat">
              <a:solidFill>
                <a:srgbClr val="A79E93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A79E93"/>
              </a:solidFill>
              <a:ln w="9525" cap="flat">
                <a:solidFill>
                  <a:srgbClr val="A79E93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V1: 24/05 a 12/07</c:v>
                </c:pt>
                <c:pt idx="1">
                  <c:v>V2: 19/07 a 06/09</c:v>
                </c:pt>
                <c:pt idx="2">
                  <c:v>V3: 13/09 a 01/11</c:v>
                </c:pt>
                <c:pt idx="3">
                  <c:v>V4: 08/11 a 27/12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0.57599999999999996</c:v>
                </c:pt>
                <c:pt idx="1">
                  <c:v>0.61699999999999999</c:v>
                </c:pt>
                <c:pt idx="2">
                  <c:v>0.64600000000000002</c:v>
                </c:pt>
                <c:pt idx="3">
                  <c:v>0.66100000000000003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917-442F-9F95-DCF2343927D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MMM estándar</c:v>
                </c:pt>
              </c:strCache>
            </c:strRef>
          </c:tx>
          <c:spPr>
            <a:ln w="38100" cap="flat">
              <a:solidFill>
                <a:srgbClr val="41545E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41545E"/>
              </a:solidFill>
              <a:ln w="9525" cap="flat">
                <a:solidFill>
                  <a:srgbClr val="41545E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V1: 24/05 a 12/07</c:v>
                </c:pt>
                <c:pt idx="1">
                  <c:v>V2: 19/07 a 06/09</c:v>
                </c:pt>
                <c:pt idx="2">
                  <c:v>V3: 13/09 a 01/11</c:v>
                </c:pt>
                <c:pt idx="3">
                  <c:v>V4: 08/11 a 27/12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0.56200000000000006</c:v>
                </c:pt>
                <c:pt idx="1">
                  <c:v>0.53500000000000003</c:v>
                </c:pt>
                <c:pt idx="2">
                  <c:v>0.61299999999999999</c:v>
                </c:pt>
                <c:pt idx="3">
                  <c:v>0.57499999999999996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917-442F-9F95-DCF2343927D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MMM calibrado</c:v>
                </c:pt>
              </c:strCache>
            </c:strRef>
          </c:tx>
          <c:spPr>
            <a:ln w="38100" cap="flat">
              <a:solidFill>
                <a:srgbClr val="C8912F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C8912F"/>
              </a:solidFill>
              <a:ln w="9525" cap="flat">
                <a:solidFill>
                  <a:srgbClr val="C8912F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V1: 24/05 a 12/07</c:v>
                </c:pt>
                <c:pt idx="1">
                  <c:v>V2: 19/07 a 06/09</c:v>
                </c:pt>
                <c:pt idx="2">
                  <c:v>V3: 13/09 a 01/11</c:v>
                </c:pt>
                <c:pt idx="3">
                  <c:v>V4: 08/11 a 27/12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0.61299999999999999</c:v>
                </c:pt>
                <c:pt idx="1">
                  <c:v>0.66100000000000003</c:v>
                </c:pt>
                <c:pt idx="2">
                  <c:v>0.65400000000000003</c:v>
                </c:pt>
                <c:pt idx="3">
                  <c:v>0.67300000000000004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917-442F-9F95-DCF2343927D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MMM calibrado + rezago 52</c:v>
                </c:pt>
              </c:strCache>
            </c:strRef>
          </c:tx>
          <c:spPr>
            <a:ln w="38100" cap="flat">
              <a:solidFill>
                <a:srgbClr val="1C1714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1C1714"/>
              </a:solidFill>
              <a:ln w="9525" cap="flat">
                <a:solidFill>
                  <a:srgbClr val="1C1714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V1: 24/05 a 12/07</c:v>
                </c:pt>
                <c:pt idx="1">
                  <c:v>V2: 19/07 a 06/09</c:v>
                </c:pt>
                <c:pt idx="2">
                  <c:v>V3: 13/09 a 01/11</c:v>
                </c:pt>
                <c:pt idx="3">
                  <c:v>V4: 08/11 a 27/12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0.80100000000000005</c:v>
                </c:pt>
                <c:pt idx="1">
                  <c:v>0.83399999999999996</c:v>
                </c:pt>
                <c:pt idx="2">
                  <c:v>0.874</c:v>
                </c:pt>
                <c:pt idx="3">
                  <c:v>0.91100000000000003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917-442F-9F95-DCF2343927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E65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4"/>
        </c:scaling>
        <c:delete val="0"/>
        <c:axPos val="l"/>
        <c:majorGridlines>
          <c:spPr>
            <a:ln w="12700" cap="flat">
              <a:solidFill>
                <a:srgbClr val="E2DCD2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55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2B252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1843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Encuadre: el modelo responde qué se asocia al volumen y con qué grado de evidencia. No es un modelo de pronóstico ni una herramienta de asignación automática de presupuesto.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Lámina escrita para el CMO. Las comparaciones de peso entre variables salen de los coeficientes estandarizados (lámina de respaldo): distribución 0,263, temperatura 0,123 y Facebook 0,048, el medio más fuerte. Comparan variaciones de tamaño habitual en cada variable, no un peso invertido contra un punto de cobertura. Confianza alta: significativo al 1 % y estable entre especificaciones. Media: significativo, con intervalo amplio o sensible a la especificación. El 3 % es la mejora de RMSE del MMM frente al modelo sin medios, no la participación de los medios en el volumen.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Gráfica del notebook (volumen y facturación por marca, agregados por semana). Estas diferencias de escala son las que capturan los efectos fijos de marca: frente a Marca C, D tiene +544 % y F +447 % de volumen base. La lectura sobre Marca E es visual: su facturación se separa de A y B sin que su volumen lo haga, lo que es consistente con un precio por hectolitro mayor; confirmarlo requiere datos de precio. Marca F concentra también la mayor dispersión: 13 % de sus semanas supera el límite superior del rango intercuartílico.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estacionalidad es la señal más fuerte del panel: el pronóstico ingenuo t-52 alcanza R² de 0,784 en prueba. Por eso el modelo predictivo incorpora el rezago anual. La caída abrupta en la última semana del gráfico conviene verificarla: puede ser un registro incompleto. Evitar citar el máximo de 50.000 hL del notebook: esa gráfica traza filas individuales, no el total semanal.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diagnóstico de faltantes y validación posintegración del notebook. La tabla de contexto tiene 2.088 filas (261 semanas por 8 regiones); eventos y feriados solo tienen 360 filas observadas. La validación posintegración confirma las mismas 39.721 filas y los mismos totales de volumen y facturación que la tabla de ventas, sin llaves duplicadas. La imputación por mediana usa solo el período de calibración para no filtrar información de validación o prueba.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 de la prueba ADF de la celda de diagnóstico: todas las variables del modelo rechazan raíz unitaria con p &lt; 0,01; ingreso regional no la rechaza (p = 0,43). Si un revisor técnico pregunta: la prueba se aplicó sobre la serie completa del panel. Aplicada por combinación marca-región-subcanal, el volumen es estacionario en 109 de 144 series (76 %). Ese riesgo residual queda controlado por los efectos fijos y la validación fuera de muestra, donde una relación espuria no se sostiene. Una prueba para paneles heterogéneos (Im, Pesaran y Shin, 2003) es el paso siguiente natural.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correlaciones salen de la matriz ejecutada del notebook. El texto del notebook indica que Twitter y temperatura son las más altas (0,09); la salida muestra distribución ponderada con 0,17. Corregir ese párrafo antes de compartir el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Argumento central: con facturación, el precio omitido entra mecánicamente en la variable dependiente; con volumen, es un problema clásico de variable omitida (Wooldridge, 2020). Reconocer el costo ante el CMO: el volumen identifica qué mueve la demanda, pero no mide valor. Por eso la cuarta fase del plan incorpora precio.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Notación del notebook: α sin subíndice es el intercepto y α_b, α_r, α_s los efectos fijos; α_j, con subíndice de medio, es la forma de la curva de Hill. Primero se aplica el adstock y luego la saturación. S_j toma valores entre 0 y 1, por lo que η_j es el efecto del recorrido completo de la curva. Se usa log1p porque conserva las semanas con cero hectolitros.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separación temporal es lo primero que un equipo técnico va a auditar. Dejarla explícita desde el inicio.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Orden de las transformaciones: primero el adstock acumula la inversión con su memoria, después la saturación convierte esa presión acumulada en respuesta. Las curvas son ilustrativas y usan la misma forma funcional del modelo: A(t) = M(t) + θ·A(t−1) y S(A) = A^α / (A^α + γ^α). En ambas curvas de saturación, A = γ produce exactamente 50 % del efecto máximo. Los valores de cada canal están en la lámina siguiente.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criterio de 5% fijado ex ante es lo que impide elegir el modelo después de ver el resultado. Vale la pena señalarlo.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Curvas construidas con los parámetros calibrados del notebook (θ, α y γ por canal) y la posición reciente A/γ que reporta la celda de saturación. Vida media del efecto: ln(0,5)/ln(θ), 0,6 semanas con θ = 0,3; 1 semana con θ = 0,5; 1,9 semanas con θ = 0,7. La posición en la curva describe la transformación, no el retorno: estar cerca del techo no obliga a recortar, pero sí indica que un peso adicional probablemente rinda poco. La decisión requiere además el coeficiente, su incertidumbre y el costo. Instagram y radio aparecen saturados, pero su coeficiente no es significativo.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valores junto a cada punto están en escala logarítmica, porque el modelo explica log(1 + volumen). Su traducción a porcentaje es 100 · (e^β − 1): temperatura 0,032 da +3,2 %; distribución 0,016 da +1,6 %; feriado −0,116 da −11,0 %; Facebook 0,296 da +34,5 %; Subcanal C 2,289 da e^2,289 ≈ 9,9 veces el volumen del Subcanal B. La barra es el intervalo de confianza del 90 %. En medios, el coeficiente corresponde a recorrer toda la curva de saturación, no a un peso invertido.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Coeficientes y efectos porcentuales de la celda de estimación del modelo final del notebook (columna efecto_porcentual). En efectos fijos, el efecto es la diferencia de volumen base frente a la categoría de referencia: Subcanal C vende e^2,289 = 9,9 veces lo del Subcanal B, es decir, +886 %. En medios, el efecto corresponde al recorrido completo de la curva de saturación; el aporte desde la posición actual está en la lámina siguiente.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lámina evita el error más común al presentar un MMM: confundir el efecto fijo de un segmento con su respuesta publicitaria.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Cifras de la tabla comparativa de especificaciones del notebook, estimadas sobre una muestra común. Que el R² de prueba supere al de entrenamiento no indica un error: el período de prueba (mayo a diciembre de 2025) puede ser más regular que el de entrenamiento, que incluye el pico atípico de la temporada 2023-2024. Lo relevante es que no hay caída al pasar a datos nuevos. El estacional ingenuo no tiene R² de entrenamiento porque no estima parámetros. Métricas complementarias del MMM calibrado en prueba: RMSE 1.280 hL y MAE 482 hL.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R² por ventana de la celda de backtesting del notebook. En cada ventana se reestiman los coeficientes con todas las semanas previas y se predicen las ocho siguientes, sin usar datos futuros. Referencia no incluida en el gráfico: el estacional ingenuo t-52 logra R² de 0,744; 0,868; 0,681 y 0,812 por ventana (0,784 global); el híbrido lo supera en tres de cuatro ventanas y en el global. Dispersión del RMSE entre ventanas: 73 hL en el híbrido frente a 191 hL del estacional.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Respaldo técnico si lo piden: los residuos muestran heterocedasticidad (Breusch-Pagan, p &lt; 0,001) y autocorrelación remanente en los rezagos 8 y 13. Además, θ, α y γ se seleccionaron entre alternativas discretas, lo que agrega incertidumbre no reflejada en los errores estándar.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Mensaje para el CMO: el objetivo no es gastar más, sino que cada peso de marketing trabaje más. Las pruebas convierten asociaciones del modelo en retorno medido. Condición para escalar el plan: incorporar precio y promociones a la medición, para que los medios no se lleven efectos que no les corresponden. El monto de la prueba se define con Finanzas según el presupuesto vigente de cada canal. Evidencia: coeficientes estandarizados (cobertura 0,263 frente a Facebook 0,048), posición en la curva de saturación de las últimas ocho semanas y margen restante calculado como e^(η·(1−S)) − 1.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Mencionar el registro en MLflow solo si preguntan por reproducibilidad.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2560320"/>
            <a:ext cx="2743200" cy="2743200"/>
          </a:xfrm>
          <a:prstGeom prst="ellipse">
            <a:avLst/>
          </a:prstGeom>
          <a:solidFill>
            <a:srgbClr val="1C1714"/>
          </a:solidFill>
          <a:ln w="12700">
            <a:solidFill>
              <a:srgbClr val="C891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326880" y="2194560"/>
            <a:ext cx="2011680" cy="2011680"/>
          </a:xfrm>
          <a:prstGeom prst="ellipse">
            <a:avLst/>
          </a:prstGeom>
          <a:solidFill>
            <a:srgbClr val="1C1714"/>
          </a:solidFill>
          <a:ln w="12700">
            <a:solidFill>
              <a:srgbClr val="C891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058400" y="1828800"/>
            <a:ext cx="1280160" cy="1280160"/>
          </a:xfrm>
          <a:prstGeom prst="ellipse">
            <a:avLst/>
          </a:prstGeom>
          <a:solidFill>
            <a:srgbClr val="1C1714"/>
          </a:solidFill>
          <a:ln w="12700">
            <a:solidFill>
              <a:srgbClr val="C891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1965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E3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73100" y="2331720"/>
            <a:ext cx="821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Modelos</a:t>
            </a: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8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mixtos</a:t>
            </a: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</a:t>
            </a:r>
            <a:r>
              <a:rPr lang="en-US" sz="38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publicidad</a:t>
            </a: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y </a:t>
            </a:r>
            <a:r>
              <a:rPr lang="en-US" sz="38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</a:t>
            </a: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8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efecto</a:t>
            </a: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8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</a:t>
            </a: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el </a:t>
            </a:r>
            <a:r>
              <a:rPr lang="en-US" sz="38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volumen</a:t>
            </a: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8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comercializado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6118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D9D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impulsa el volumen, dónde invertir con más evidencia y cómo validarlo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84632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E3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08406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 semanas, 6 marcas, 8 regiones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063240" y="484632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E3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ESTIMACIÓN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3063240" y="508406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17,856 obs. de entrenamiento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484632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E3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5394960" y="508406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4,002 obs. fuera de muestra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726680" y="484632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E3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7726680" y="508406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Víctor Tablas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AB InBev</a:t>
            </a:r>
            <a:endParaRPr lang="en-US" sz="9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B71F47B-C29E-B997-B9E1-7B459D8D3E3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-348508" y="-519538"/>
            <a:ext cx="12889016" cy="74398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DIRECCIÓN DE MARKETING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B2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impulsa el volumen y dónde conviene actuar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AB InBev  |  </a:t>
            </a:r>
            <a:r>
              <a:rPr lang="en-US" sz="9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mixtos</a:t>
            </a: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9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publicidad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54496" y="1444752"/>
            <a:ext cx="5385816" cy="1901952"/>
          </a:xfrm>
          <a:prstGeom prst="roundRect">
            <a:avLst>
              <a:gd name="adj" fmla="val 2885"/>
            </a:avLst>
          </a:prstGeom>
          <a:solidFill>
            <a:srgbClr val="F5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528816" y="1627632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4154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528816" y="16276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CONFIANZA MEDIA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6528816" y="1920240"/>
            <a:ext cx="4837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Facebook, YouTube y TV local muestran señal de retorno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6528816" y="2423160"/>
            <a:ext cx="4837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los únicos canales con efecto positivo consistente. Seis de los catorce no muestran un efecto medible con la inversión actual.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528816" y="2862072"/>
            <a:ext cx="4837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hacer: </a:t>
            </a:r>
            <a:r>
              <a:rPr lang="en-US" sz="1150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dirigir ahí la próxima inversión incremental, empezando por mercados de prueba.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438144"/>
            <a:ext cx="5385816" cy="1901952"/>
          </a:xfrm>
          <a:prstGeom prst="roundRect">
            <a:avLst>
              <a:gd name="adj" fmla="val 2885"/>
            </a:avLst>
          </a:prstGeom>
          <a:solidFill>
            <a:srgbClr val="F5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22960" y="3621024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C891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822960" y="362102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CONFIANZA ALTA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3913632"/>
            <a:ext cx="4837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medios mueven el volumen menos de lo que suele suponerse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416552"/>
            <a:ext cx="4837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Sumar toda la inversión en medios mejora apenas 3 % la precisión del modelo. El tamaño de cada marca, región y canal, el clima y la estación pesan más.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855464"/>
            <a:ext cx="4837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hacer: </a:t>
            </a:r>
            <a:r>
              <a:rPr lang="en-US" sz="1150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cada canal por su efecto incremental medido, no por su coincidencia con las ventas.</a:t>
            </a:r>
            <a:endParaRPr lang="en-US" sz="1150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BFFDF0F-D666-1989-26D4-2D827BE4687D}"/>
              </a:ext>
            </a:extLst>
          </p:cNvPr>
          <p:cNvGrpSpPr/>
          <p:nvPr/>
        </p:nvGrpSpPr>
        <p:grpSpPr>
          <a:xfrm>
            <a:off x="548640" y="1345184"/>
            <a:ext cx="5385816" cy="1901952"/>
            <a:chOff x="6254496" y="3438144"/>
            <a:chExt cx="5385816" cy="1901952"/>
          </a:xfrm>
        </p:grpSpPr>
        <p:sp>
          <p:nvSpPr>
            <p:cNvPr id="24" name="Shape 22"/>
            <p:cNvSpPr/>
            <p:nvPr/>
          </p:nvSpPr>
          <p:spPr>
            <a:xfrm>
              <a:off x="6254496" y="3438144"/>
              <a:ext cx="5385816" cy="1901952"/>
            </a:xfrm>
            <a:prstGeom prst="roundRect">
              <a:avLst>
                <a:gd name="adj" fmla="val 2885"/>
              </a:avLst>
            </a:prstGeom>
            <a:solidFill>
              <a:srgbClr val="F5F1EA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Shape 23"/>
            <p:cNvSpPr/>
            <p:nvPr/>
          </p:nvSpPr>
          <p:spPr>
            <a:xfrm>
              <a:off x="6528816" y="3621024"/>
              <a:ext cx="1417320" cy="237744"/>
            </a:xfrm>
            <a:prstGeom prst="roundRect">
              <a:avLst>
                <a:gd name="adj" fmla="val 50000"/>
              </a:avLst>
            </a:prstGeom>
            <a:solidFill>
              <a:srgbClr val="C8912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 24"/>
            <p:cNvSpPr txBox="1"/>
            <p:nvPr/>
          </p:nvSpPr>
          <p:spPr>
            <a:xfrm>
              <a:off x="6528816" y="3621024"/>
              <a:ext cx="141732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kern="0" spc="8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CONFIANZA ALTA</a:t>
              </a:r>
              <a:endParaRPr lang="en-US" sz="850" dirty="0"/>
            </a:p>
          </p:txBody>
        </p:sp>
        <p:sp>
          <p:nvSpPr>
            <p:cNvPr id="27" name="Text 25"/>
            <p:cNvSpPr txBox="1"/>
            <p:nvPr/>
          </p:nvSpPr>
          <p:spPr>
            <a:xfrm>
              <a:off x="6528816" y="3913632"/>
              <a:ext cx="4837176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50" b="1" dirty="0">
                  <a:solidFill>
                    <a:srgbClr val="2B252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El clima mueve más volumen que cualquier medio</a:t>
              </a:r>
              <a:endParaRPr lang="en-US" sz="1450" dirty="0"/>
            </a:p>
          </p:txBody>
        </p:sp>
        <p:sp>
          <p:nvSpPr>
            <p:cNvPr id="28" name="Text 26"/>
            <p:cNvSpPr txBox="1"/>
            <p:nvPr/>
          </p:nvSpPr>
          <p:spPr>
            <a:xfrm>
              <a:off x="6528816" y="4416552"/>
              <a:ext cx="4837176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6E655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Cada grado adicional se asocia con 3,2 % más volumen. Ante variaciones habituales, la temperatura pesa más del doble que el medio más efectivo.</a:t>
              </a:r>
              <a:endParaRPr lang="en-US" sz="1150" dirty="0"/>
            </a:p>
          </p:txBody>
        </p:sp>
        <p:sp>
          <p:nvSpPr>
            <p:cNvPr id="29" name="Text 27"/>
            <p:cNvSpPr txBox="1"/>
            <p:nvPr/>
          </p:nvSpPr>
          <p:spPr>
            <a:xfrm>
              <a:off x="6528816" y="4855464"/>
              <a:ext cx="4837176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8A641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Qué hacer: </a:t>
              </a:r>
              <a:r>
                <a:rPr lang="en-US" sz="1150" dirty="0">
                  <a:solidFill>
                    <a:srgbClr val="2B252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programar pauta y activaciones según el pronóstico del clima, no solo según el calendario.</a:t>
              </a:r>
              <a:endParaRPr lang="en-US" sz="1150" dirty="0"/>
            </a:p>
          </p:txBody>
        </p:sp>
      </p:grpSp>
      <p:sp>
        <p:nvSpPr>
          <p:cNvPr id="30" name="Shape 28"/>
          <p:cNvSpPr/>
          <p:nvPr/>
        </p:nvSpPr>
        <p:spPr>
          <a:xfrm>
            <a:off x="548640" y="5468112"/>
            <a:ext cx="11091672" cy="694944"/>
          </a:xfrm>
          <a:prstGeom prst="roundRect">
            <a:avLst>
              <a:gd name="adj" fmla="val 7895"/>
            </a:avLst>
          </a:prstGeom>
          <a:solidFill>
            <a:srgbClr val="1C17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868680" y="5559552"/>
            <a:ext cx="104515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Atención: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Región D y Subcanal C venden más por su tamaño, no porque respondan mejor a la publicidad. La escala de un mercado no debe guiar la asignación de medios.</a:t>
            </a:r>
            <a:endParaRPr lang="en-US" sz="1200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07E518E8-5525-7059-50C1-70DC729544EB}"/>
              </a:ext>
            </a:extLst>
          </p:cNvPr>
          <p:cNvGrpSpPr/>
          <p:nvPr/>
        </p:nvGrpSpPr>
        <p:grpSpPr>
          <a:xfrm>
            <a:off x="6254496" y="3520440"/>
            <a:ext cx="5385816" cy="1901952"/>
            <a:chOff x="548640" y="1444752"/>
            <a:chExt cx="5385816" cy="1901952"/>
          </a:xfrm>
        </p:grpSpPr>
        <p:sp>
          <p:nvSpPr>
            <p:cNvPr id="33" name="Shape 4">
              <a:extLst>
                <a:ext uri="{FF2B5EF4-FFF2-40B4-BE49-F238E27FC236}">
                  <a16:creationId xmlns:a16="http://schemas.microsoft.com/office/drawing/2014/main" id="{C7B2DA4C-CAB4-F3A7-5156-C054D6E784C9}"/>
                </a:ext>
              </a:extLst>
            </p:cNvPr>
            <p:cNvSpPr/>
            <p:nvPr/>
          </p:nvSpPr>
          <p:spPr>
            <a:xfrm>
              <a:off x="548640" y="1444752"/>
              <a:ext cx="5385816" cy="1901952"/>
            </a:xfrm>
            <a:prstGeom prst="roundRect">
              <a:avLst>
                <a:gd name="adj" fmla="val 2885"/>
              </a:avLst>
            </a:prstGeom>
            <a:solidFill>
              <a:srgbClr val="F5F1EA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Shape 5">
              <a:extLst>
                <a:ext uri="{FF2B5EF4-FFF2-40B4-BE49-F238E27FC236}">
                  <a16:creationId xmlns:a16="http://schemas.microsoft.com/office/drawing/2014/main" id="{C35455DE-D78D-82B4-6AA6-F8B18F1AEB69}"/>
                </a:ext>
              </a:extLst>
            </p:cNvPr>
            <p:cNvSpPr/>
            <p:nvPr/>
          </p:nvSpPr>
          <p:spPr>
            <a:xfrm>
              <a:off x="822960" y="1627632"/>
              <a:ext cx="1417320" cy="237744"/>
            </a:xfrm>
            <a:prstGeom prst="roundRect">
              <a:avLst>
                <a:gd name="adj" fmla="val 50000"/>
              </a:avLst>
            </a:prstGeom>
            <a:solidFill>
              <a:srgbClr val="C8912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 6">
              <a:extLst>
                <a:ext uri="{FF2B5EF4-FFF2-40B4-BE49-F238E27FC236}">
                  <a16:creationId xmlns:a16="http://schemas.microsoft.com/office/drawing/2014/main" id="{29C2FE65-AC21-6E6D-4509-2FF0D4DDEF58}"/>
                </a:ext>
              </a:extLst>
            </p:cNvPr>
            <p:cNvSpPr txBox="1"/>
            <p:nvPr/>
          </p:nvSpPr>
          <p:spPr>
            <a:xfrm>
              <a:off x="822960" y="1627632"/>
              <a:ext cx="141732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kern="0" spc="8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CONFIANZA ALTA</a:t>
              </a:r>
              <a:endParaRPr lang="en-US" sz="850" dirty="0"/>
            </a:p>
          </p:txBody>
        </p:sp>
        <p:sp>
          <p:nvSpPr>
            <p:cNvPr id="39" name="Text 7">
              <a:extLst>
                <a:ext uri="{FF2B5EF4-FFF2-40B4-BE49-F238E27FC236}">
                  <a16:creationId xmlns:a16="http://schemas.microsoft.com/office/drawing/2014/main" id="{DEF4EB60-409A-F13F-2DA4-91E5724A2D81}"/>
                </a:ext>
              </a:extLst>
            </p:cNvPr>
            <p:cNvSpPr txBox="1"/>
            <p:nvPr/>
          </p:nvSpPr>
          <p:spPr>
            <a:xfrm>
              <a:off x="822960" y="1920240"/>
              <a:ext cx="4837176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50" b="1" dirty="0">
                  <a:solidFill>
                    <a:srgbClr val="2B252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 cobertura en tiendas pesa más de cinco veces que el mejor medio</a:t>
              </a:r>
              <a:endParaRPr lang="en-US" sz="1450" dirty="0"/>
            </a:p>
          </p:txBody>
        </p:sp>
        <p:sp>
          <p:nvSpPr>
            <p:cNvPr id="41" name="Text 8">
              <a:extLst>
                <a:ext uri="{FF2B5EF4-FFF2-40B4-BE49-F238E27FC236}">
                  <a16:creationId xmlns:a16="http://schemas.microsoft.com/office/drawing/2014/main" id="{327069DC-C3C0-ED04-B7B1-44464CF4D817}"/>
                </a:ext>
              </a:extLst>
            </p:cNvPr>
            <p:cNvSpPr txBox="1"/>
            <p:nvPr/>
          </p:nvSpPr>
          <p:spPr>
            <a:xfrm>
              <a:off x="822960" y="2423160"/>
              <a:ext cx="4837176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6E655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Ante cambios habituales, la distribución ponderada mueve el volumen más de cinco veces que Facebook y es el efecto más estable del modelo.</a:t>
              </a:r>
              <a:endParaRPr lang="en-US" sz="1150" dirty="0"/>
            </a:p>
          </p:txBody>
        </p:sp>
        <p:sp>
          <p:nvSpPr>
            <p:cNvPr id="43" name="Text 9">
              <a:extLst>
                <a:ext uri="{FF2B5EF4-FFF2-40B4-BE49-F238E27FC236}">
                  <a16:creationId xmlns:a16="http://schemas.microsoft.com/office/drawing/2014/main" id="{8AAF5014-3515-1050-9ED9-5A9ADDAA9D14}"/>
                </a:ext>
              </a:extLst>
            </p:cNvPr>
            <p:cNvSpPr txBox="1"/>
            <p:nvPr/>
          </p:nvSpPr>
          <p:spPr>
            <a:xfrm>
              <a:off x="822960" y="2862072"/>
              <a:ext cx="4837176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8A641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Qué hacer: </a:t>
              </a:r>
              <a:r>
                <a:rPr lang="en-US" sz="1150" dirty="0">
                  <a:solidFill>
                    <a:srgbClr val="2B252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ubicar los huecos de cobertura en las tiendas que más venden y comparar el costo de cerrarlos con el de sumar pauta.</a:t>
              </a:r>
              <a:endParaRPr lang="en-US" sz="1150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EXPLORATORIO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B2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por marca: dos líderes y un cambio de mix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AB InBev  |  </a:t>
            </a:r>
            <a:r>
              <a:rPr lang="en-US" sz="9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mixtos</a:t>
            </a: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9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publicidad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6" name="Image 0" descr="/home/claude/abi/eda_marc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40"/>
            <a:ext cx="7269480" cy="41330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66928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 en hectolitros (izquierda) y facturación neta deflactada por IPC (derecha), por semana. Fuente: elaboración propia con datos del challenge.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7909560" y="1463040"/>
            <a:ext cx="3730752" cy="1444752"/>
          </a:xfrm>
          <a:prstGeom prst="roundRect">
            <a:avLst>
              <a:gd name="adj" fmla="val 3797"/>
            </a:avLst>
          </a:prstGeom>
          <a:solidFill>
            <a:srgbClr val="F5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156448" y="16002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y D concentran la demanda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156448" y="1920240"/>
            <a:ext cx="3246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 en volumen y en facturación. A, B y E forman un bloque intermedio y C se mantiene al fondo, con aporte casi nulo.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909560" y="3035808"/>
            <a:ext cx="3730752" cy="1444752"/>
          </a:xfrm>
          <a:prstGeom prst="roundRect">
            <a:avLst>
              <a:gd name="adj" fmla="val 3797"/>
            </a:avLst>
          </a:prstGeom>
          <a:solidFill>
            <a:srgbClr val="F5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8156448" y="317296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líderes pierden fuerza desde 2024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8156448" y="3493008"/>
            <a:ext cx="3246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la temporada 2023-2024, los picos de F y sobre todo de D se debilitan: la contracción del total viene de las dos marcas más grandes.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909560" y="4608576"/>
            <a:ext cx="3730752" cy="1444752"/>
          </a:xfrm>
          <a:prstGeom prst="roundRect">
            <a:avLst>
              <a:gd name="adj" fmla="val 3797"/>
            </a:avLst>
          </a:prstGeom>
          <a:solidFill>
            <a:srgbClr val="1C17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8156448" y="474573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3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E factura por encima de su volumen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8156448" y="5065776"/>
            <a:ext cx="3246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volumen se mueve a la par de A y B, pero en facturación se despega: sugiere un mayor precio por hectolitro. Es un ejemplo de por qué el mix distorsiona la facturación como variable a explicar.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EXPLORATORIO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B2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muy estacional y concentrada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AB InBev  |  </a:t>
            </a:r>
            <a:r>
              <a:rPr lang="en-US" sz="9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mixtos</a:t>
            </a: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9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publicidad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6" name="Image 0" descr="/home/claude/abi/eda_reg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81328"/>
            <a:ext cx="4617720" cy="4572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40680" y="1481328"/>
            <a:ext cx="6199632" cy="1051560"/>
          </a:xfrm>
          <a:prstGeom prst="roundRect">
            <a:avLst>
              <a:gd name="adj" fmla="val 5217"/>
            </a:avLst>
          </a:prstGeom>
          <a:solidFill>
            <a:srgbClr val="1C17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5715000" y="168249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E3B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0,784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7086600" y="1645920"/>
            <a:ext cx="4279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fuera de muestra de un pronóstico que solo repite la misma semana del año anterior. La estacionalidad, por sí sola, explica cerca de 78 % de la variación del volumen.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40680" y="2807208"/>
            <a:ext cx="329184" cy="329184"/>
          </a:xfrm>
          <a:prstGeom prst="ellipse">
            <a:avLst/>
          </a:prstGeom>
          <a:solidFill>
            <a:srgbClr val="C891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440680" y="2807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5943600" y="2788920"/>
            <a:ext cx="5696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Picos en el verano austral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5943600" y="3118104"/>
            <a:ext cx="5696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volumen alcanza su máximo entre diciembre y enero y cae en los meses fríos, en línea con el efecto positivo de la temperatura.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40680" y="3922776"/>
            <a:ext cx="329184" cy="329184"/>
          </a:xfrm>
          <a:prstGeom prst="ellipse">
            <a:avLst/>
          </a:prstGeom>
          <a:solidFill>
            <a:srgbClr val="C891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5440680" y="3922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943600" y="3904488"/>
            <a:ext cx="5696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Región D concentra la escala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5943600" y="4233672"/>
            <a:ext cx="5696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 varias veces a cualquier otra región. Subcanal C y las marcas F y D cumplen el mismo papel en sus dimensiones.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40680" y="5038344"/>
            <a:ext cx="329184" cy="329184"/>
          </a:xfrm>
          <a:prstGeom prst="ellipse">
            <a:avLst/>
          </a:prstGeom>
          <a:solidFill>
            <a:srgbClr val="C891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5440680" y="5038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943600" y="5020056"/>
            <a:ext cx="5696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Picos más débiles desde 2024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5943600" y="5349240"/>
            <a:ext cx="5696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el máximo de la temporada 2023-2024, los picos de Región D pierden fuerza en 2025 y 2026 y arrastran el total.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08990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 semanal por región, en hectolitros. Fuente: elaboración propia con datos del challenge.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DE DATOS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B2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faltantes e imputaciones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AB InBev  |  </a:t>
            </a:r>
            <a:r>
              <a:rPr lang="en-US" sz="9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mixtos</a:t>
            </a: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9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publicidad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514344" cy="868680"/>
          </a:xfrm>
          <a:prstGeom prst="roundRect">
            <a:avLst>
              <a:gd name="adj" fmla="val 6316"/>
            </a:avLst>
          </a:prstGeom>
          <a:solidFill>
            <a:srgbClr val="1C17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1481328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3B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1481328"/>
            <a:ext cx="2371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faltantes en ventas y facturación, la variable a explicar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37304" y="1417320"/>
            <a:ext cx="3514344" cy="868680"/>
          </a:xfrm>
          <a:prstGeom prst="roundRect">
            <a:avLst>
              <a:gd name="adj" fmla="val 6316"/>
            </a:avLst>
          </a:prstGeom>
          <a:solidFill>
            <a:srgbClr val="1C17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565904" y="1481328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3B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39.721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257544" y="1481328"/>
            <a:ext cx="1411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 conservadas tras integrar las cuatro tablas, sin diferencias en totales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25968" y="1417320"/>
            <a:ext cx="3514344" cy="868680"/>
          </a:xfrm>
          <a:prstGeom prst="roundRect">
            <a:avLst>
              <a:gd name="adj" fmla="val 6316"/>
            </a:avLst>
          </a:prstGeom>
          <a:solidFill>
            <a:srgbClr val="1C17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8354568" y="1481328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3B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83 %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9634728" y="1481328"/>
            <a:ext cx="1822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registros de eventos y feriados imputados como cero</a:t>
            </a:r>
            <a:endParaRPr lang="en-US" sz="10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50592"/>
          <a:ext cx="11091672" cy="2706624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564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Faltantes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Tratamiento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Eventos deportivos, sociales y feriados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1.728 de 2.088 registros (83 %)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Semanas sin evento registrado en la fuente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completan con cero, como supuesto explícito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Ingreso regional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840 de 2.088 registros (40 %)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datos antes de 2023 y frecuencia distinta a la semanal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Relleno hacia adelante solo dentro de cada región, nunca hacia atrás; luego se excluye del modelo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Inversión en medios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45 % del panel integrado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fuente solo cubre 2023 a 2025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 imputa: el modelo se estima solo en semanas con inversión observada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Clima, eventos y distribución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 5 % y 6 % del panel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 tablas de contexto terminan antes que las ventas (2026)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 imputa: esas semanas quedan fuera de la ventana del modelo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Controles dentro de la ventana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Residuales, si los hay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Protección preventiva ante registros incompletos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Mediana del período de calibración, aplicada después a validación y prueba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548640" y="5486400"/>
            <a:ext cx="11091672" cy="694944"/>
          </a:xfrm>
          <a:prstGeom prst="roundRect">
            <a:avLst>
              <a:gd name="adj" fmla="val 7895"/>
            </a:avLst>
          </a:prstGeom>
          <a:solidFill>
            <a:srgbClr val="F5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822960" y="5532120"/>
            <a:ext cx="10543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 a vigilar:  </a:t>
            </a:r>
            <a:r>
              <a:rPr lang="en-US" sz="1100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parte de los eventos faltantes no fueran semanas sin evento sino eventos no registrados, su efecto quedaría subestimado. Es coherente con que eventos deportivos y sociales no resulten significativos.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EXPLORATORIO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2B2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Estacionariedad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AB InBev  |  </a:t>
            </a:r>
            <a:r>
              <a:rPr lang="en-US" sz="9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mixtos</a:t>
            </a: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9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publicidad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F5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15727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880360" y="1536192"/>
            <a:ext cx="8485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las series no </a:t>
            </a:r>
            <a:r>
              <a:rPr lang="en-US" sz="1200" dirty="0" err="1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fueran</a:t>
            </a:r>
            <a:r>
              <a:rPr lang="en-US" sz="1200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estacionarias</a:t>
            </a:r>
            <a:r>
              <a:rPr lang="en-US" sz="1200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dos variables que solo comparten una tendencia podrían parecer relacionadas en la regresión sin </a:t>
            </a:r>
            <a:r>
              <a:rPr lang="en-US" sz="1200" dirty="0" err="1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realmente</a:t>
            </a:r>
            <a:r>
              <a:rPr lang="en-US" sz="1200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estarlo</a:t>
            </a:r>
            <a:r>
              <a:rPr lang="en-US" sz="1200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(regresión espuria).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7589520" cy="2743200"/>
          </a:xfrm>
          <a:prstGeom prst="roundRect">
            <a:avLst>
              <a:gd name="adj" fmla="val 2000"/>
            </a:avLst>
          </a:prstGeom>
          <a:solidFill>
            <a:srgbClr val="F5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22960" y="2670048"/>
            <a:ext cx="502920" cy="146304"/>
          </a:xfrm>
          <a:prstGeom prst="roundRect">
            <a:avLst>
              <a:gd name="adj" fmla="val 18750"/>
            </a:avLst>
          </a:prstGeom>
          <a:solidFill>
            <a:srgbClr val="C891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22960" y="2889504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Resultaron estacionarias y entran al modelo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34670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a explicar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788920" y="3346704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 (hL)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7764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788920" y="3776472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ponderada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206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788920" y="420624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y precipitación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636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788920" y="4636008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Facebook, YouTube, TV local, TV abierta, TV de pago, radio, video digital e Instagram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412480" y="2468880"/>
            <a:ext cx="3227832" cy="2743200"/>
          </a:xfrm>
          <a:prstGeom prst="roundRect">
            <a:avLst>
              <a:gd name="adj" fmla="val 2000"/>
            </a:avLst>
          </a:prstGeom>
          <a:solidFill>
            <a:srgbClr val="F5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686800" y="2670048"/>
            <a:ext cx="502920" cy="146304"/>
          </a:xfrm>
          <a:prstGeom prst="roundRect">
            <a:avLst>
              <a:gd name="adj" fmla="val 18750"/>
            </a:avLst>
          </a:prstGeom>
          <a:solidFill>
            <a:srgbClr val="8C4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8686800" y="2889504"/>
            <a:ext cx="2679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resultó estacionaria y se excluye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0" y="3611880"/>
            <a:ext cx="2679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8C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regional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686800" y="3977640"/>
            <a:ext cx="2679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Además, no tiene datos antes de 2023 y solo se </a:t>
            </a:r>
            <a:r>
              <a:rPr lang="en-US" sz="12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</a:t>
            </a:r>
            <a:r>
              <a:rPr lang="en-US" sz="12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2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vez</a:t>
            </a:r>
            <a:r>
              <a:rPr lang="en-US" sz="12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la </a:t>
            </a:r>
            <a:r>
              <a:rPr lang="en-US" sz="12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</a:t>
            </a:r>
            <a:r>
              <a:rPr lang="en-US" sz="12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2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 </a:t>
            </a:r>
            <a:r>
              <a:rPr lang="en-US" sz="12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2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quiere</a:t>
            </a:r>
            <a:r>
              <a:rPr lang="en-US" sz="12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imputaciones</a:t>
            </a:r>
            <a:r>
              <a:rPr lang="en-US" sz="12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n-US" sz="12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sz="12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</a:t>
            </a:r>
            <a:r>
              <a:rPr lang="en-US" sz="12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6 días </a:t>
            </a:r>
            <a:r>
              <a:rPr lang="en-US" sz="12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2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</a:t>
            </a:r>
            <a:r>
              <a:rPr lang="en-US" sz="12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</a:t>
            </a:r>
            <a:r>
              <a:rPr lang="en-US" sz="12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376672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1C17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868680" y="5449824"/>
            <a:ext cx="10451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3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Conclusión: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las variables del modelo son estacionarias, pueden usarse en la regresión sin transformarlas en diferencias y sin riesgo de relaciones espurias por tendencias compartidas.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EXPLORATORIO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B2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Preparación de datos y por qué no alcanzan las correlaciones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AB InBev  |  </a:t>
            </a:r>
            <a:r>
              <a:rPr lang="en-US" sz="9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mixtos</a:t>
            </a: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9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publicidad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8132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de preparación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892808"/>
            <a:ext cx="329184" cy="329184"/>
          </a:xfrm>
          <a:prstGeom prst="ellipse">
            <a:avLst/>
          </a:prstGeom>
          <a:solidFill>
            <a:srgbClr val="C891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48640" y="1892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87452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sin registro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19456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1.728 registros sin dato en eventos y feriados se completaron con cero, como supuesto explícito.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916936"/>
            <a:ext cx="329184" cy="329184"/>
          </a:xfrm>
          <a:prstGeom prst="ellipse">
            <a:avLst/>
          </a:prstGeom>
          <a:solidFill>
            <a:srgbClr val="C891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48640" y="2916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2898648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Feriado como conteo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218688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 valores 0, 1 y 2, por lo que se trata como intensidad y no como indicador binario.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941064"/>
            <a:ext cx="329184" cy="329184"/>
          </a:xfrm>
          <a:prstGeom prst="ellipse">
            <a:avLst/>
          </a:prstGeom>
          <a:solidFill>
            <a:srgbClr val="C891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548640" y="39410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22776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regional excluido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4242816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datos antes de 2023, relleno solo hacia adelante y sin estacionariedad: queda fuera del modelo.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965192"/>
            <a:ext cx="329184" cy="329184"/>
          </a:xfrm>
          <a:prstGeom prst="ellipse">
            <a:avLst/>
          </a:prstGeom>
          <a:solidFill>
            <a:srgbClr val="C891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548640" y="4965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4946904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Atípicos conservados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5266944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identificaron por rango intercuartílico dentro de cada grupo, sin eliminarlos. En Marca F, 13 % de las semanas supera el límite superior.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629400" y="1481328"/>
            <a:ext cx="5010912" cy="4160520"/>
          </a:xfrm>
          <a:prstGeom prst="roundRect">
            <a:avLst>
              <a:gd name="adj" fmla="val 1319"/>
            </a:avLst>
          </a:prstGeom>
          <a:solidFill>
            <a:srgbClr val="1C17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6922008" y="1691640"/>
            <a:ext cx="4425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E3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hace falta un modelo conjunto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6922008" y="219456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E3B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0,17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8092440" y="2231136"/>
            <a:ext cx="3255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contemporánea más alta con el volumen: distribución ponderada. Ningún medio supera 0,09.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922008" y="318211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E3B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0,33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8092440" y="3218688"/>
            <a:ext cx="3255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y YouTube se activan juntos. También vía pública y cine (0,25) y Facebook e Instagram (0,24).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922008" y="4224528"/>
            <a:ext cx="44256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9D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publicidad actúa con rezago y rendimientos decrecientes, y los canales se superponen. Evaluarlos uno a uno atribuiría a un canal el efecto de una campaña combinada. Por eso el modelo estima todos los medios a la vez, con adstock y saturación, y separa la venta base.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B2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modelar volumen y no facturación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AB InBev  |  </a:t>
            </a:r>
            <a:r>
              <a:rPr lang="en-US" sz="9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mixtos</a:t>
            </a: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9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publicidad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1672" cy="932688"/>
          </a:xfrm>
          <a:prstGeom prst="roundRect">
            <a:avLst>
              <a:gd name="adj" fmla="val 5882"/>
            </a:avLst>
          </a:prstGeom>
          <a:solidFill>
            <a:srgbClr val="F5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68680" y="1591056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 err="1">
                <a:solidFill>
                  <a:srgbClr val="2B2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facturación</a:t>
            </a:r>
            <a:r>
              <a:rPr lang="en-US" sz="1800" b="1" dirty="0">
                <a:solidFill>
                  <a:srgbClr val="2B2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 </a:t>
            </a:r>
            <a:r>
              <a:rPr lang="en-US" sz="1800" b="1" dirty="0" err="1">
                <a:solidFill>
                  <a:srgbClr val="2B2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precio</a:t>
            </a:r>
            <a:r>
              <a:rPr lang="en-US" sz="1800" b="1" dirty="0">
                <a:solidFill>
                  <a:srgbClr val="2B2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*</a:t>
            </a:r>
            <a:r>
              <a:rPr lang="en-US" sz="1800" b="1" dirty="0" err="1">
                <a:solidFill>
                  <a:srgbClr val="2B2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984248"/>
            <a:ext cx="1017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facturación combina precio y cantidad. </a:t>
            </a:r>
          </a:p>
          <a:p>
            <a:pPr marL="0" indent="0" algn="ctr">
              <a:buNone/>
            </a:pPr>
            <a:r>
              <a:rPr lang="en-US" sz="11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Usada</a:t>
            </a:r>
            <a:r>
              <a:rPr lang="en-US" sz="11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como dependiente, cada coeficiente mezclaría el efecto sobre los hectolitros vendidos con el efecto sobre el precio cobrado.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092958" y="2514600"/>
            <a:ext cx="2567178" cy="1920240"/>
          </a:xfrm>
          <a:prstGeom prst="roundRect">
            <a:avLst>
              <a:gd name="adj" fmla="val 2857"/>
            </a:avLst>
          </a:prstGeom>
          <a:solidFill>
            <a:srgbClr val="F5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330702" y="2697480"/>
            <a:ext cx="329184" cy="329184"/>
          </a:xfrm>
          <a:prstGeom prst="ellipse">
            <a:avLst/>
          </a:prstGeom>
          <a:solidFill>
            <a:srgbClr val="C891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3330702" y="2697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/>
              <a:t>1</a:t>
            </a:r>
          </a:p>
        </p:txBody>
      </p:sp>
      <p:sp>
        <p:nvSpPr>
          <p:cNvPr id="22" name="Text 20"/>
          <p:cNvSpPr txBox="1"/>
          <p:nvPr/>
        </p:nvSpPr>
        <p:spPr>
          <a:xfrm>
            <a:off x="3330702" y="3118104"/>
            <a:ext cx="20916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mix distorsiona la facturación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3330702" y="3593592"/>
            <a:ext cx="209169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desplazamiento hacia marcas premium sube la facturación sin vender más cerveza, y el modelo podría atribuirlo a los medios.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934456" y="2514600"/>
            <a:ext cx="2567178" cy="1920240"/>
          </a:xfrm>
          <a:prstGeom prst="roundRect">
            <a:avLst>
              <a:gd name="adj" fmla="val 2857"/>
            </a:avLst>
          </a:prstGeom>
          <a:solidFill>
            <a:srgbClr val="F5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172200" y="2697480"/>
            <a:ext cx="329184" cy="329184"/>
          </a:xfrm>
          <a:prstGeom prst="ellipse">
            <a:avLst/>
          </a:prstGeom>
          <a:solidFill>
            <a:srgbClr val="C891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6172200" y="2697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/>
              <a:t>2</a:t>
            </a:r>
          </a:p>
        </p:txBody>
      </p:sp>
      <p:sp>
        <p:nvSpPr>
          <p:cNvPr id="27" name="Text 25"/>
          <p:cNvSpPr txBox="1"/>
          <p:nvPr/>
        </p:nvSpPr>
        <p:spPr>
          <a:xfrm>
            <a:off x="6172200" y="3118104"/>
            <a:ext cx="20916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palancas actúan sobre la demanda física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172200" y="3593592"/>
            <a:ext cx="209169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Distribución, clima y medios mueven cuánto se consume. En hectolitros, el efecto se traduce directo a producción e inventario.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4626864"/>
            <a:ext cx="5385816" cy="1115568"/>
          </a:xfrm>
          <a:prstGeom prst="roundRect">
            <a:avLst>
              <a:gd name="adj" fmla="val 4918"/>
            </a:avLst>
          </a:prstGeom>
          <a:solidFill>
            <a:srgbClr val="F5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822960" y="4754880"/>
            <a:ext cx="4837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pierde poca información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5047488"/>
            <a:ext cx="4837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análisis exploratorio, volumen y facturación muestran trayectorias casi idénticas por región y subcanal. El volumen conserva la señal temporal y estacional.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54496" y="4626864"/>
            <a:ext cx="5385816" cy="1115568"/>
          </a:xfrm>
          <a:prstGeom prst="roundRect">
            <a:avLst>
              <a:gd name="adj" fmla="val 4918"/>
            </a:avLst>
          </a:prstGeom>
          <a:solidFill>
            <a:srgbClr val="1C17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6528816" y="4754880"/>
            <a:ext cx="4837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3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costo de esta elección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6528816" y="5047488"/>
            <a:ext cx="4837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volumen no mide valor: más hectolitros de productos baratos pueden significar menos margen. Traducir los resultados a facturación requiere sumar el precio por hectolitro al modelo.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B2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Especificación del modelo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AB InBev  |  </a:t>
            </a:r>
            <a:r>
              <a:rPr lang="en-US" sz="9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mixtos</a:t>
            </a: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9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publicidad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91672" cy="1783080"/>
          </a:xfrm>
          <a:prstGeom prst="roundRect">
            <a:avLst>
              <a:gd name="adj" fmla="val 3077"/>
            </a:avLst>
          </a:prstGeom>
          <a:solidFill>
            <a:srgbClr val="F5F1E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abi/tex/eq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2626" y="1601572"/>
            <a:ext cx="6743700" cy="141457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337560"/>
            <a:ext cx="5120640" cy="1737360"/>
          </a:xfrm>
          <a:prstGeom prst="roundRect">
            <a:avLst>
              <a:gd name="adj" fmla="val 3158"/>
            </a:avLst>
          </a:prstGeom>
          <a:solidFill>
            <a:srgbClr val="F5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777240" y="346557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 base</a:t>
            </a:r>
            <a:endParaRPr lang="en-US" sz="1250" dirty="0"/>
          </a:p>
        </p:txBody>
      </p:sp>
      <p:pic>
        <p:nvPicPr>
          <p:cNvPr id="10" name="Image 1" descr="/home/claude/abi/tex/eq_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476" y="3942436"/>
            <a:ext cx="4550969" cy="27157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77240" y="443484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Distribución, clima, eventos y efectos fijos de marca, región y subcanal: lo que se vendería sin publicidad.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820156" y="3337560"/>
            <a:ext cx="2834640" cy="1737360"/>
          </a:xfrm>
          <a:prstGeom prst="roundRect">
            <a:avLst>
              <a:gd name="adj" fmla="val 3158"/>
            </a:avLst>
          </a:prstGeom>
          <a:solidFill>
            <a:srgbClr val="F5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 txBox="1"/>
          <p:nvPr/>
        </p:nvSpPr>
        <p:spPr>
          <a:xfrm>
            <a:off x="6048756" y="34655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Adstock</a:t>
            </a:r>
            <a:endParaRPr lang="en-US" sz="1250" dirty="0"/>
          </a:p>
        </p:txBody>
      </p:sp>
      <p:pic>
        <p:nvPicPr>
          <p:cNvPr id="14" name="Image 2" descr="/home/claude/abi/tex/eq_adst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2317" y="3942436"/>
            <a:ext cx="2090318" cy="27157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048756" y="44348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Memoria: θ es la parte del efecto que sobrevive a la semana siguiente.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8805672" y="3337560"/>
            <a:ext cx="2834640" cy="1737360"/>
          </a:xfrm>
          <a:prstGeom prst="roundRect">
            <a:avLst>
              <a:gd name="adj" fmla="val 3158"/>
            </a:avLst>
          </a:prstGeom>
          <a:solidFill>
            <a:srgbClr val="F5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 txBox="1"/>
          <p:nvPr/>
        </p:nvSpPr>
        <p:spPr>
          <a:xfrm>
            <a:off x="9034272" y="34655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Saturación de Hill</a:t>
            </a:r>
            <a:endParaRPr lang="en-US" sz="1250" dirty="0"/>
          </a:p>
        </p:txBody>
      </p:sp>
      <p:pic>
        <p:nvPicPr>
          <p:cNvPr id="18" name="Image 3" descr="/home/claude/abi/tex/eq_hi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7921" y="3811676"/>
            <a:ext cx="1590142" cy="53309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34272" y="44348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Rendimientos decrecientes: α da la forma y γ el punto de media saturación.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548640" y="5212080"/>
            <a:ext cx="11091672" cy="987552"/>
          </a:xfrm>
          <a:prstGeom prst="roundRect">
            <a:avLst>
              <a:gd name="adj" fmla="val 5556"/>
            </a:avLst>
          </a:prstGeom>
          <a:solidFill>
            <a:srgbClr val="1C17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 txBox="1"/>
          <p:nvPr/>
        </p:nvSpPr>
        <p:spPr>
          <a:xfrm>
            <a:off x="822960" y="53035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3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Notación.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marca, r región, s subcanal, t semana, j medio.  D distribución ponderada; C temperatura y precipitación; E eventos y feriados; M inversión en medios. Referencias: Marca C, Región A y Subcanal B.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9D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Estimación por mínimos cuadrados ordinarios; retransformación a hectolitros con smearing de Duan (factor 1,390).</a:t>
            </a:r>
            <a:endParaRPr lang="en-US" sz="1050" dirty="0"/>
          </a:p>
        </p:txBody>
      </p:sp>
      <p:pic>
        <p:nvPicPr>
          <p:cNvPr id="22" name="Image 4" descr="/home/claude/abi/tex/eq_pc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1120" y="5330952"/>
            <a:ext cx="1723644" cy="26334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961120" y="56692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9D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 porcentual de un coeficiente, con lo demás constante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EMPÍRICA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B2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y ventana de estimación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AB InBev  |  </a:t>
            </a:r>
            <a:r>
              <a:rPr lang="en-US" sz="9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mixtos</a:t>
            </a: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9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publicidad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483864" cy="1645920"/>
          </a:xfrm>
          <a:prstGeom prst="roundRect">
            <a:avLst>
              <a:gd name="adj" fmla="val 3333"/>
            </a:avLst>
          </a:prstGeom>
          <a:solidFill>
            <a:srgbClr val="F5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1901952"/>
            <a:ext cx="292608" cy="292608"/>
          </a:xfrm>
          <a:prstGeom prst="ellipse">
            <a:avLst/>
          </a:prstGeom>
          <a:solidFill>
            <a:srgbClr val="C891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22960" y="1901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286000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dependiente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560320"/>
            <a:ext cx="2935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log1p(volume_hl)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Retransformado con smearing de Duan (1,390)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52544" y="1645920"/>
            <a:ext cx="3483864" cy="1645920"/>
          </a:xfrm>
          <a:prstGeom prst="roundRect">
            <a:avLst>
              <a:gd name="adj" fmla="val 3333"/>
            </a:avLst>
          </a:prstGeom>
          <a:solidFill>
            <a:srgbClr val="F5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26864" y="1901952"/>
            <a:ext cx="292608" cy="292608"/>
          </a:xfrm>
          <a:prstGeom prst="ellipse">
            <a:avLst/>
          </a:prstGeom>
          <a:solidFill>
            <a:srgbClr val="C891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626864" y="1901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626864" y="2286000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Granularidad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626864" y="2560320"/>
            <a:ext cx="2935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x marca x región x subcanal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56448" y="1645920"/>
            <a:ext cx="3483864" cy="1645920"/>
          </a:xfrm>
          <a:prstGeom prst="roundRect">
            <a:avLst>
              <a:gd name="adj" fmla="val 3333"/>
            </a:avLst>
          </a:prstGeom>
          <a:solidFill>
            <a:srgbClr val="F5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430768" y="1901952"/>
            <a:ext cx="292608" cy="292608"/>
          </a:xfrm>
          <a:prstGeom prst="ellipse">
            <a:avLst/>
          </a:prstGeom>
          <a:solidFill>
            <a:srgbClr val="C891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8430768" y="1901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430768" y="2286000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430768" y="2560320"/>
            <a:ext cx="2935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07/01/2023 a 17/05/2025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 semanas, 17,856 observaciones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520440"/>
            <a:ext cx="3483864" cy="1645920"/>
          </a:xfrm>
          <a:prstGeom prst="roundRect">
            <a:avLst>
              <a:gd name="adj" fmla="val 3333"/>
            </a:avLst>
          </a:prstGeom>
          <a:solidFill>
            <a:srgbClr val="F5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22960" y="3776472"/>
            <a:ext cx="292608" cy="292608"/>
          </a:xfrm>
          <a:prstGeom prst="ellipse">
            <a:avLst/>
          </a:prstGeom>
          <a:solidFill>
            <a:srgbClr val="C891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822960" y="3776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4160520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4434840"/>
            <a:ext cx="2935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24/05/2025 a 27/12/2025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semanas, 4,002 observaciones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52544" y="3520440"/>
            <a:ext cx="3483864" cy="1645920"/>
          </a:xfrm>
          <a:prstGeom prst="roundRect">
            <a:avLst>
              <a:gd name="adj" fmla="val 3333"/>
            </a:avLst>
          </a:prstGeom>
          <a:solidFill>
            <a:srgbClr val="F5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26864" y="3776472"/>
            <a:ext cx="292608" cy="292608"/>
          </a:xfrm>
          <a:prstGeom prst="ellipse">
            <a:avLst/>
          </a:prstGeom>
          <a:solidFill>
            <a:srgbClr val="C891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4626864" y="3776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626864" y="4160520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integradas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4626864" y="4434840"/>
            <a:ext cx="2935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Ventas, inversión en medios, distribución en punto de venta y contexto regional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156448" y="3520440"/>
            <a:ext cx="3483864" cy="1645920"/>
          </a:xfrm>
          <a:prstGeom prst="roundRect">
            <a:avLst>
              <a:gd name="adj" fmla="val 3333"/>
            </a:avLst>
          </a:prstGeom>
          <a:solidFill>
            <a:srgbClr val="F5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430768" y="3776472"/>
            <a:ext cx="292608" cy="292608"/>
          </a:xfrm>
          <a:prstGeom prst="ellipse">
            <a:avLst/>
          </a:prstGeom>
          <a:solidFill>
            <a:srgbClr val="C891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8430768" y="3776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430768" y="4160520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Exclusión explícita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8430768" y="4434840"/>
            <a:ext cx="2935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regional: cobertura incompleta y alta proporción de imputación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55778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corte temporal es estricto: la prueba nunca participa en la calibración de parámetros ni en la selección de especificación.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B2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Adstock y saturación: qué significan θ, α y γ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AB InBev  |  </a:t>
            </a:r>
            <a:r>
              <a:rPr lang="en-US" sz="9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mixtos</a:t>
            </a: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9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publicidad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53629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  ·  ADSTOCK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45920"/>
            <a:ext cx="53629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publicidad deja memoria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277356" y="1417320"/>
            <a:ext cx="53629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  ·  SATURACIÓN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277356" y="1645920"/>
            <a:ext cx="53629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peso adicional rinde menos</a:t>
            </a:r>
            <a:endParaRPr lang="en-US" sz="14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457200" y="1965960"/>
          <a:ext cx="5454396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Chart 1"/>
          <p:cNvGraphicFramePr/>
          <p:nvPr/>
        </p:nvGraphicFramePr>
        <p:xfrm>
          <a:off x="6185916" y="1965960"/>
          <a:ext cx="5454396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Shape 8"/>
          <p:cNvSpPr/>
          <p:nvPr/>
        </p:nvSpPr>
        <p:spPr>
          <a:xfrm>
            <a:off x="548640" y="4133088"/>
            <a:ext cx="5362956" cy="2029968"/>
          </a:xfrm>
          <a:prstGeom prst="roundRect">
            <a:avLst>
              <a:gd name="adj" fmla="val 2703"/>
            </a:avLst>
          </a:prstGeom>
          <a:solidFill>
            <a:srgbClr val="F5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 txBox="1"/>
          <p:nvPr/>
        </p:nvSpPr>
        <p:spPr>
          <a:xfrm>
            <a:off x="777240" y="42976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C89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</a:t>
            </a:r>
            <a:endParaRPr lang="en-US" sz="2800" dirty="0"/>
          </a:p>
        </p:txBody>
      </p:sp>
      <p:sp>
        <p:nvSpPr>
          <p:cNvPr id="14" name="Text 10"/>
          <p:cNvSpPr txBox="1"/>
          <p:nvPr/>
        </p:nvSpPr>
        <p:spPr>
          <a:xfrm>
            <a:off x="1325880" y="4389120"/>
            <a:ext cx="43571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Theta: cuánto dura el recuerdo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777240" y="4864608"/>
            <a:ext cx="490575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parte del efecto de una campaña que sigue activa la semana siguiente. Con θ = 0,3 queda 30 % a la semana y casi nada a la tercera; con θ = 0,7, una cuarta parte del efecto sigue viva al cabo de un mes. Facebook, YouTube y TV local resultaron de memoria corta (0,3); Instagram y radio, de memoria larga (0,7).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277356" y="4133088"/>
            <a:ext cx="2567178" cy="2029968"/>
          </a:xfrm>
          <a:prstGeom prst="roundRect">
            <a:avLst>
              <a:gd name="adj" fmla="val 2703"/>
            </a:avLst>
          </a:prstGeom>
          <a:solidFill>
            <a:srgbClr val="F5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 txBox="1"/>
          <p:nvPr/>
        </p:nvSpPr>
        <p:spPr>
          <a:xfrm>
            <a:off x="6505956" y="42976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C89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</a:t>
            </a:r>
            <a:endParaRPr lang="en-US" sz="2800" dirty="0"/>
          </a:p>
        </p:txBody>
      </p:sp>
      <p:sp>
        <p:nvSpPr>
          <p:cNvPr id="18" name="Text 14"/>
          <p:cNvSpPr txBox="1"/>
          <p:nvPr/>
        </p:nvSpPr>
        <p:spPr>
          <a:xfrm>
            <a:off x="7054596" y="4389120"/>
            <a:ext cx="15613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Alfa: la forma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6505956" y="4864608"/>
            <a:ext cx="210997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α = 1, cada peso rinde un poco menos que el anterior desde el primero. Con α = 2, la curva tiene forma de S: hace falta un mínimo de inversión antes de que el canal empiece a rendir.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9073134" y="4133088"/>
            <a:ext cx="2567178" cy="2029968"/>
          </a:xfrm>
          <a:prstGeom prst="roundRect">
            <a:avLst>
              <a:gd name="adj" fmla="val 2703"/>
            </a:avLst>
          </a:prstGeom>
          <a:solidFill>
            <a:srgbClr val="F5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 txBox="1"/>
          <p:nvPr/>
        </p:nvSpPr>
        <p:spPr>
          <a:xfrm>
            <a:off x="9301734" y="42976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C89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γ</a:t>
            </a:r>
            <a:endParaRPr lang="en-US" sz="2800" dirty="0"/>
          </a:p>
        </p:txBody>
      </p:sp>
      <p:sp>
        <p:nvSpPr>
          <p:cNvPr id="22" name="Text 18"/>
          <p:cNvSpPr txBox="1"/>
          <p:nvPr/>
        </p:nvSpPr>
        <p:spPr>
          <a:xfrm>
            <a:off x="9850374" y="4389120"/>
            <a:ext cx="15613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Gamma: la mitad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9301734" y="4864608"/>
            <a:ext cx="210997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presión publicitaria con la que el canal logra la mitad de su efecto máximo. Un γ bajo indica que se satura rápido; uno alto, que admite más inversión antes de aplanarse.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B2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Calibración de medios por canal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AB InBev  |  </a:t>
            </a:r>
            <a:r>
              <a:rPr lang="en-US" sz="9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mixtos</a:t>
            </a: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9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publicidad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7276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canal se evaluó con 18 combinaciones de θ, α y γ. Se seleccionó la de menor RMSE en la ventana de validación, condicionada a un coeficiente positivo.</a:t>
            </a:r>
            <a:endParaRPr lang="en-US" sz="12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6583680" cy="2962656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 (memoria)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 (forma)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γ (media saturación)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Facebook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YouTube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 local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digital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Instagram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 abierta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 de pago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452360" y="2057400"/>
            <a:ext cx="4187952" cy="1508760"/>
          </a:xfrm>
          <a:prstGeom prst="roundRect">
            <a:avLst>
              <a:gd name="adj" fmla="val 3636"/>
            </a:avLst>
          </a:prstGeom>
          <a:solidFill>
            <a:srgbClr val="1C17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7726680" y="2240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E3B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de 14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7726680" y="2697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canales clasificados como no concluyentes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726680" y="3017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9D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Cine, display y búsqueda, publicidad exterior, medios impresos, TikTok y Twitter: ninguna combinación produjo efecto positivo.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452360" y="3703320"/>
            <a:ext cx="4187952" cy="1325880"/>
          </a:xfrm>
          <a:prstGeom prst="roundRect">
            <a:avLst>
              <a:gd name="adj" fmla="val 4138"/>
            </a:avLst>
          </a:prstGeom>
          <a:solidFill>
            <a:srgbClr val="F5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7726680" y="3886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preespecificada</a:t>
            </a:r>
            <a:endParaRPr lang="en-US" sz="1200" dirty="0"/>
          </a:p>
        </p:txBody>
      </p:sp>
      <p:sp>
        <p:nvSpPr>
          <p:cNvPr id="7" name="Text 11"/>
          <p:cNvSpPr txBox="1"/>
          <p:nvPr/>
        </p:nvSpPr>
        <p:spPr>
          <a:xfrm>
            <a:off x="7726680" y="417880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fijó antes de ver resultados que el MMM estándar se preferiría por parsimonia si su RMSE no superaba en 5 % al calibrado. Lo superó en 6,71 %, por lo que se mantuvo el calibrado.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52578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de calibración: 07/01/2023 a 23/11/2024. Ventana de validación: 30/11/2024 a 17/05/2025. La prueba no interviene.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B2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Adstock y saturación por canal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AB InBev  |  </a:t>
            </a:r>
            <a:r>
              <a:rPr lang="en-US" sz="9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mixtos</a:t>
            </a: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9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publicidad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Memoria: cuánto dura el efecto</a:t>
            </a:r>
            <a:endParaRPr lang="en-US" sz="1300" dirty="0"/>
          </a:p>
        </p:txBody>
      </p:sp>
      <p:pic>
        <p:nvPicPr>
          <p:cNvPr id="7" name="Image 0" descr="/home/claude/abi/adstock_cana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19072"/>
            <a:ext cx="3840480" cy="357530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663440" y="14173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 reciente en la curva de saturación</a:t>
            </a:r>
            <a:endParaRPr lang="en-US" sz="1300" dirty="0"/>
          </a:p>
        </p:txBody>
      </p:sp>
      <p:pic>
        <p:nvPicPr>
          <p:cNvPr id="9" name="Image 1" descr="/home/claude/abi/saturacion_cana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719072"/>
            <a:ext cx="6949440" cy="34747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663440" y="52120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Punto: mediana de las últimas ocho semanas (08/11 a 27/12/2025); el porcentaje indica qué parte del efecto máximo ya se alcanza. </a:t>
            </a:r>
            <a:r>
              <a:rPr lang="en-US" sz="950" b="1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Dorado</a:t>
            </a:r>
            <a:r>
              <a:rPr lang="en-US" sz="95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señal positiva; </a:t>
            </a:r>
            <a:r>
              <a:rPr lang="en-US" sz="950" b="1" dirty="0">
                <a:solidFill>
                  <a:srgbClr val="8C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rojo</a:t>
            </a:r>
            <a:r>
              <a:rPr lang="en-US" sz="95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negativa; gris: no significativa.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548640" y="5596128"/>
            <a:ext cx="11091672" cy="603504"/>
          </a:xfrm>
          <a:prstGeom prst="roundRect">
            <a:avLst>
              <a:gd name="adj" fmla="val 9091"/>
            </a:avLst>
          </a:prstGeom>
          <a:solidFill>
            <a:srgbClr val="1C17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822960" y="562356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3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Lectura: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Facebook, YouTube y TV local la mitad del efecto se disipa en menos de una semana. TV local combina señal positiva y margen en su curva (30 %), por lo que es el mejor candidato para probar más inversión; Facebook ya opera cerca del techo (92 %).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B2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Coeficientes estimados: qué nos dice cada punto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AB InBev  |  </a:t>
            </a:r>
            <a:r>
              <a:rPr lang="en-US" sz="9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mixtos</a:t>
            </a: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9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publicidad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pic>
        <p:nvPicPr>
          <p:cNvPr id="6" name="Image 0" descr="/home/claude/abi/coef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81328"/>
            <a:ext cx="6629400" cy="41056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5650992"/>
            <a:ext cx="6492240" cy="548640"/>
          </a:xfrm>
          <a:prstGeom prst="roundRect">
            <a:avLst>
              <a:gd name="adj" fmla="val 10000"/>
            </a:avLst>
          </a:prstGeom>
          <a:solidFill>
            <a:srgbClr val="1C17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77240" y="5687568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Facebook, YouTube y TV local tienen barras enteramente positivas, pero anchas: la señal existe, su tamaño es incierto.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269480" y="1481328"/>
            <a:ext cx="4370832" cy="841248"/>
          </a:xfrm>
          <a:prstGeom prst="roundRect">
            <a:avLst>
              <a:gd name="adj" fmla="val 6522"/>
            </a:avLst>
          </a:prstGeom>
          <a:solidFill>
            <a:srgbClr val="F5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7525512" y="1572768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punto responde una pregunta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525512" y="1828800"/>
            <a:ext cx="3858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solo cambia esta variable y todo lo demás queda igual, ¿cuánto cambia el volumen vendido?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269480" y="2414016"/>
            <a:ext cx="4370832" cy="868680"/>
          </a:xfrm>
          <a:prstGeom prst="roundRect">
            <a:avLst>
              <a:gd name="adj" fmla="val 6316"/>
            </a:avLst>
          </a:prstGeom>
          <a:solidFill>
            <a:srgbClr val="F5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7525512" y="2487168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barra muestra la incertidumbre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525512" y="2761488"/>
            <a:ext cx="3858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rango donde probablemente está el efecto real. Si cruza la línea del cero, no podemos asegurar que el efecto exista.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269480" y="3374136"/>
            <a:ext cx="4370832" cy="2825496"/>
          </a:xfrm>
          <a:prstGeom prst="roundRect">
            <a:avLst>
              <a:gd name="adj" fmla="val 1942"/>
            </a:avLst>
          </a:prstGeom>
          <a:solidFill>
            <a:srgbClr val="1C17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7525512" y="348386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3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gráfica a la práctica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525512" y="3739896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9D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todo lo demás queda igual. Efecto = 100 · (e</a:t>
            </a:r>
            <a:r>
              <a:rPr lang="en-US" sz="950" baseline="30000" dirty="0">
                <a:solidFill>
                  <a:srgbClr val="D9D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</a:t>
            </a:r>
            <a:r>
              <a:rPr lang="en-US" sz="950" dirty="0">
                <a:solidFill>
                  <a:srgbClr val="D9D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− 1)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7525512" y="3977640"/>
            <a:ext cx="2770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semana un grado más cálida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7525512" y="4169664"/>
            <a:ext cx="2770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3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r>
              <a:rPr lang="en-US" sz="1100" baseline="30000" dirty="0">
                <a:solidFill>
                  <a:srgbClr val="E3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0,032</a:t>
            </a:r>
            <a:r>
              <a:rPr lang="en-US" sz="1100" dirty="0">
                <a:solidFill>
                  <a:srgbClr val="E3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− 1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0314432" y="3995928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E3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+3,2 %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7525512" y="4398264"/>
            <a:ext cx="2770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marca gana 1 punto de cobertura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7525512" y="4590288"/>
            <a:ext cx="2770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3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r>
              <a:rPr lang="en-US" sz="1100" baseline="30000" dirty="0">
                <a:solidFill>
                  <a:srgbClr val="E3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0,016</a:t>
            </a:r>
            <a:r>
              <a:rPr lang="en-US" sz="1100" dirty="0">
                <a:solidFill>
                  <a:srgbClr val="E3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− 1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314432" y="4416552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E3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+1,6 %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7525512" y="4818888"/>
            <a:ext cx="2770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semana tiene un feriado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7525512" y="5010912"/>
            <a:ext cx="2770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3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r>
              <a:rPr lang="en-US" sz="1100" baseline="30000" dirty="0">
                <a:solidFill>
                  <a:srgbClr val="E3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−0,116</a:t>
            </a:r>
            <a:r>
              <a:rPr lang="en-US" sz="1100" dirty="0">
                <a:solidFill>
                  <a:srgbClr val="E3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− 1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10314432" y="4837176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E3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−11 %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7525512" y="5239512"/>
            <a:ext cx="2770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con su presión actual, frente a no invertir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7525512" y="5431536"/>
            <a:ext cx="2770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3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r>
              <a:rPr lang="en-US" sz="1100" baseline="30000" dirty="0">
                <a:solidFill>
                  <a:srgbClr val="E3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0,296 × 0,92</a:t>
            </a:r>
            <a:r>
              <a:rPr lang="en-US" sz="1100" dirty="0">
                <a:solidFill>
                  <a:srgbClr val="E3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− 1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10314432" y="5257800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E3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+31 %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7525512" y="5660136"/>
            <a:ext cx="2770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Subcanal C frente a Subcanal B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7525512" y="5852160"/>
            <a:ext cx="2770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3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r>
              <a:rPr lang="en-US" sz="1100" baseline="30000" dirty="0">
                <a:solidFill>
                  <a:srgbClr val="E3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2,289</a:t>
            </a:r>
            <a:r>
              <a:rPr lang="en-US" sz="1100" dirty="0">
                <a:solidFill>
                  <a:srgbClr val="E3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9,9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10314432" y="5678424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E3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10 veces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B2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coeficiente a efecto: el cálculo de cada variable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AB InBev  |  </a:t>
            </a:r>
            <a:r>
              <a:rPr lang="en-US" sz="9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mixtos</a:t>
            </a: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9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publicidad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 sobre el volumen = 100 · (e</a:t>
            </a:r>
            <a:r>
              <a:rPr lang="en-US" sz="1200" b="1" baseline="30000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</a:t>
            </a:r>
            <a:r>
              <a:rPr lang="en-US" sz="1200" b="1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− 1), con todo lo demás constante. En gris, coeficientes no significativos al 10 %.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8640" y="5742432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F5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822960" y="5760720"/>
            <a:ext cx="10543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práctica:  </a:t>
            </a:r>
            <a:r>
              <a:rPr lang="en-US" sz="1050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coeficientes menores a 0,1, 100 · β ya aproxima el efecto (0,032 da 3,2 %); con mayores, hay que usar la fórmula completa (2,289 da 886 %, no 229 %).</a:t>
            </a:r>
            <a:endParaRPr lang="en-US" sz="105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72D6E907-B9A7-5C6E-C42F-0A3B9C58FF50}"/>
              </a:ext>
            </a:extLst>
          </p:cNvPr>
          <p:cNvSpPr txBox="1"/>
          <p:nvPr/>
        </p:nvSpPr>
        <p:spPr>
          <a:xfrm>
            <a:off x="2807716" y="1760217"/>
            <a:ext cx="54086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unidad adicional; en medios, de 0 a saturación total</a:t>
            </a:r>
            <a:endParaRPr lang="en-US" sz="1050" dirty="0"/>
          </a:p>
        </p:txBody>
      </p:sp>
      <p:graphicFrame>
        <p:nvGraphicFramePr>
          <p:cNvPr id="14" name="Table 1">
            <a:extLst>
              <a:ext uri="{FF2B5EF4-FFF2-40B4-BE49-F238E27FC236}">
                <a16:creationId xmlns:a16="http://schemas.microsoft.com/office/drawing/2014/main" id="{C08C36F1-12E5-0382-56D2-970921CA56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0183896"/>
              </p:ext>
            </p:extLst>
          </p:nvPr>
        </p:nvGraphicFramePr>
        <p:xfrm>
          <a:off x="2807716" y="2025393"/>
          <a:ext cx="5408676" cy="3593595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09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95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Cálculo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Efecto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Distribución ponderada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r>
                        <a:rPr lang="en-US" sz="1000" baseline="300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0,016</a:t>
                      </a:r>
                      <a:r>
                        <a:rPr lang="en-US" sz="10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− 1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8A6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+1,6 %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Temperatura promedio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r>
                        <a:rPr lang="en-US" sz="1000" baseline="300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0,032</a:t>
                      </a:r>
                      <a:r>
                        <a:rPr lang="en-US" sz="10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− 1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8A6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+3,2 %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Precipitación promedio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−0,002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r>
                        <a:rPr lang="en-US" sz="1000" baseline="300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−0,002</a:t>
                      </a:r>
                      <a:r>
                        <a:rPr lang="en-US" sz="10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− 1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8A6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−0,2 %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Feriado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−0,116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r>
                        <a:rPr lang="en-US" sz="1000" baseline="300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−0,116</a:t>
                      </a:r>
                      <a:r>
                        <a:rPr lang="en-US" sz="10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− 1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8A6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−11,0 %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A79E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Evento social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A79E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A79E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r>
                        <a:rPr lang="en-US" sz="1000" baseline="30000" dirty="0">
                          <a:solidFill>
                            <a:srgbClr val="A79E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0,124</a:t>
                      </a:r>
                      <a:r>
                        <a:rPr lang="en-US" sz="1000" dirty="0">
                          <a:solidFill>
                            <a:srgbClr val="A79E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− 1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A79E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+13,2 %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A79E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Evento deportivo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A79E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A79E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r>
                        <a:rPr lang="en-US" sz="1000" baseline="30000" dirty="0">
                          <a:solidFill>
                            <a:srgbClr val="A79E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0,057</a:t>
                      </a:r>
                      <a:r>
                        <a:rPr lang="en-US" sz="1000" dirty="0">
                          <a:solidFill>
                            <a:srgbClr val="A79E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− 1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A79E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+5,9 %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Facebook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0,296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r>
                        <a:rPr lang="en-US" sz="1000" baseline="300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0,296</a:t>
                      </a:r>
                      <a:r>
                        <a:rPr lang="en-US" sz="10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− 1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8A6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+34,5 %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YouTube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r>
                        <a:rPr lang="en-US" sz="1000" baseline="300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0,192</a:t>
                      </a:r>
                      <a:r>
                        <a:rPr lang="en-US" sz="10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− 1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8A6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+21,2 %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 local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r>
                        <a:rPr lang="en-US" sz="1000" baseline="300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0,201</a:t>
                      </a:r>
                      <a:r>
                        <a:rPr lang="en-US" sz="10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− 1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8A6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+22,3 %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 abierta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−0,092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r>
                        <a:rPr lang="en-US" sz="1000" baseline="300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−0,092</a:t>
                      </a:r>
                      <a:r>
                        <a:rPr lang="en-US" sz="10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− 1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8A6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−8,8 %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A79E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 de pago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A79E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−0,047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A79E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r>
                        <a:rPr lang="en-US" sz="1000" baseline="30000" dirty="0">
                          <a:solidFill>
                            <a:srgbClr val="A79E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−0,047</a:t>
                      </a:r>
                      <a:r>
                        <a:rPr lang="en-US" sz="1000" dirty="0">
                          <a:solidFill>
                            <a:srgbClr val="A79E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− 1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A79E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−4,5 %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A79E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A79E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A79E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r>
                        <a:rPr lang="en-US" sz="1000" baseline="30000" dirty="0">
                          <a:solidFill>
                            <a:srgbClr val="A79E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0,033</a:t>
                      </a:r>
                      <a:r>
                        <a:rPr lang="en-US" sz="1000" dirty="0">
                          <a:solidFill>
                            <a:srgbClr val="A79E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− 1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A79E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+3,4 %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A79E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digital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A79E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−0,034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A79E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r>
                        <a:rPr lang="en-US" sz="1000" baseline="30000" dirty="0">
                          <a:solidFill>
                            <a:srgbClr val="A79E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−0,034</a:t>
                      </a:r>
                      <a:r>
                        <a:rPr lang="en-US" sz="1000" dirty="0">
                          <a:solidFill>
                            <a:srgbClr val="A79E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− 1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A79E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−3,4 %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95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A79E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Instagram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A79E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−0,086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A79E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r>
                        <a:rPr lang="en-US" sz="1000" baseline="30000" dirty="0">
                          <a:solidFill>
                            <a:srgbClr val="A79E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−0,086</a:t>
                      </a:r>
                      <a:r>
                        <a:rPr lang="en-US" sz="1000" dirty="0">
                          <a:solidFill>
                            <a:srgbClr val="A79E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− 1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A79E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−8,2 %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B2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Efectos estructurales: escala, no respuesta publicitaria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AB InBev  |  </a:t>
            </a:r>
            <a:r>
              <a:rPr lang="en-US" sz="9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mixtos</a:t>
            </a: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9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publicidad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6675120" cy="192024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Categoría con mayor efecto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Diferencia vs. referencia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Subcanal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Subcanal 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+886 %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Subcanal 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Región 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+700 %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Región 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Marca 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+544 %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Marca 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Marca 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+447 %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Marca 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365760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significativos al 1 %, salvo la Región C, que no difiere de la referencia.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452360" y="1645920"/>
            <a:ext cx="4187952" cy="2331720"/>
          </a:xfrm>
          <a:prstGeom prst="roundRect">
            <a:avLst>
              <a:gd name="adj" fmla="val 2353"/>
            </a:avLst>
          </a:prstGeom>
          <a:solidFill>
            <a:srgbClr val="1C17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7726680" y="1847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3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correcta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726680" y="21945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Estas diferencias capturan tamaño, cobertura, portafolio y condiciones comerciales. No miden sensibilidad a la publicidad y no justifican concentrar inversión de medios en Región D o Subcanal C.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206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haría falta para recomendar por territorio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52628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Interacciones entre medios y segmentos, para estimar respuestas diferenciadas.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Elasticidades por grupo, no un coeficiente común a todo el panel.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Experimentos incrementales con mercados de control.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B2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Desempeño dentro y fuera de muestra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AB InBev  |  </a:t>
            </a:r>
            <a:r>
              <a:rPr lang="en-US" sz="9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mixtos</a:t>
            </a: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9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publicidad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81328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en hectolitros. Entrenamiento: 17.851 observaciones (ene 2023 a may 2025). Prueba: 4.002 observaciones (may a dic 2025).</a:t>
            </a:r>
            <a:endParaRPr lang="en-US" sz="11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57200" y="1938528"/>
          <a:ext cx="722376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7909560" y="1481328"/>
            <a:ext cx="3730752" cy="1444752"/>
          </a:xfrm>
          <a:prstGeom prst="roundRect">
            <a:avLst>
              <a:gd name="adj" fmla="val 3797"/>
            </a:avLst>
          </a:prstGeom>
          <a:solidFill>
            <a:srgbClr val="F5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156448" y="161848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sobreajuste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156448" y="1938528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MMM calibrado explica 57,9 % de la variación en entrenamiento y 65,0 % en prueba: no pierde capacidad con semanas nuevas.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909560" y="3054096"/>
            <a:ext cx="3730752" cy="1444752"/>
          </a:xfrm>
          <a:prstGeom prst="roundRect">
            <a:avLst>
              <a:gd name="adj" fmla="val 3797"/>
            </a:avLst>
          </a:prstGeom>
          <a:solidFill>
            <a:srgbClr val="1C17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8156448" y="319125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3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prueba es la que discrimina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8156448" y="3511296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 muestra, los cuatro primeros modelos empatan (57,6 % a 58,0 %). Fuera de muestra, solo el calibrado supera a la venta base; los otros dos caen a 54,7 %.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909560" y="4626864"/>
            <a:ext cx="3730752" cy="1444752"/>
          </a:xfrm>
          <a:prstGeom prst="roundRect">
            <a:avLst>
              <a:gd name="adj" fmla="val 3797"/>
            </a:avLst>
          </a:prstGeom>
          <a:solidFill>
            <a:srgbClr val="F5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8156448" y="476402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de pronóstico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8156448" y="5084064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rezago anual, el R² sube a 80,6 % y 86,2 %. El estacional ingenuo, que no estima parámetros, logra 78,4 % en prueba.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B2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Backtesting: cuatro ventanas de ocho semanas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AB InBev  |  </a:t>
            </a:r>
            <a:r>
              <a:rPr lang="en-US" sz="9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mixtos</a:t>
            </a: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9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publicidad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81328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fuera de muestra por ventana de 2025. Entrenamiento expansivo y parámetros de medios congelados antes de la prueba.</a:t>
            </a:r>
            <a:endParaRPr lang="en-US" sz="11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7909560" y="1481328"/>
            <a:ext cx="3730752" cy="1874520"/>
          </a:xfrm>
          <a:prstGeom prst="roundRect">
            <a:avLst>
              <a:gd name="adj" fmla="val 2927"/>
            </a:avLst>
          </a:prstGeom>
          <a:solidFill>
            <a:srgbClr val="F5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8156448" y="160934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global de las cuatro ventanas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8156448" y="19751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MMM calibrado + rezago 52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0607040" y="197510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C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0,867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8156448" y="23042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MMM calibrado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0607040" y="230428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0,659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8156448" y="26334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 base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10607040" y="263347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0,636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8156448" y="29626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MMM estándar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607040" y="296265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0,575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909560" y="3474720"/>
            <a:ext cx="3730752" cy="1097280"/>
          </a:xfrm>
          <a:prstGeom prst="roundRect">
            <a:avLst>
              <a:gd name="adj" fmla="val 5000"/>
            </a:avLst>
          </a:prstGeom>
          <a:solidFill>
            <a:srgbClr val="F5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8156448" y="35935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modesta, pero estable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156448" y="390448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MMM calibrado supera a la venta base y al MMM estándar en las cuatro ventanas.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909560" y="4690872"/>
            <a:ext cx="3730752" cy="1417320"/>
          </a:xfrm>
          <a:prstGeom prst="roundRect">
            <a:avLst>
              <a:gd name="adj" fmla="val 3871"/>
            </a:avLst>
          </a:prstGeom>
          <a:solidFill>
            <a:srgbClr val="1C17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8156448" y="480974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3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usos, dos modelos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8156448" y="512064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leer medios, el MMM calibrado. Para pronosticar, el híbrido con rezago anual, el más alto en todas las ventanas. Su rezago capta persistencia, no efecto publicitario.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DIRECCIÓN DE MARKETING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B2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recomendamos probar antes de reasignar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AB InBev  |  </a:t>
            </a:r>
            <a:r>
              <a:rPr lang="en-US" sz="9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mixtos</a:t>
            </a: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9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publicidad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362956" cy="1572768"/>
          </a:xfrm>
          <a:prstGeom prst="roundRect">
            <a:avLst>
              <a:gd name="adj" fmla="val 3488"/>
            </a:avLst>
          </a:prstGeom>
          <a:solidFill>
            <a:srgbClr val="F5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41248" y="1920240"/>
            <a:ext cx="347472" cy="347472"/>
          </a:xfrm>
          <a:prstGeom prst="ellipse">
            <a:avLst/>
          </a:prstGeom>
          <a:solidFill>
            <a:srgbClr val="8C4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41248" y="1920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1956816"/>
            <a:ext cx="42656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presupuesto no se asignó al azar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2432304"/>
            <a:ext cx="4777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campañas suelen activarse cuando se espera más demanda. El modelo ve la coincidencia, pero no puede separar si la publicidad causó la venta o la acompañó.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77356" y="1645920"/>
            <a:ext cx="5362956" cy="1572768"/>
          </a:xfrm>
          <a:prstGeom prst="roundRect">
            <a:avLst>
              <a:gd name="adj" fmla="val 3488"/>
            </a:avLst>
          </a:prstGeom>
          <a:solidFill>
            <a:srgbClr val="F5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569964" y="1920240"/>
            <a:ext cx="347472" cy="347472"/>
          </a:xfrm>
          <a:prstGeom prst="ellipse">
            <a:avLst/>
          </a:prstGeom>
          <a:solidFill>
            <a:srgbClr val="8C4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569964" y="1920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082028" y="1956816"/>
            <a:ext cx="42656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Faltan precio y promociones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569964" y="2432304"/>
            <a:ext cx="4777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esos datos, parte de lo que el modelo asocia a medios podría deberse a descuentos o cambios de precio en las mismas semanas.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474720"/>
            <a:ext cx="5362956" cy="1572768"/>
          </a:xfrm>
          <a:prstGeom prst="roundRect">
            <a:avLst>
              <a:gd name="adj" fmla="val 3488"/>
            </a:avLst>
          </a:prstGeom>
          <a:solidFill>
            <a:srgbClr val="F5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41248" y="3749040"/>
            <a:ext cx="347472" cy="347472"/>
          </a:xfrm>
          <a:prstGeom prst="ellipse">
            <a:avLst/>
          </a:prstGeom>
          <a:solidFill>
            <a:srgbClr val="8C4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841248" y="3749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353312" y="3785616"/>
            <a:ext cx="42656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tamaño del efecto es incierto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" y="4261104"/>
            <a:ext cx="4777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Sabemos qué canales muestran señal positiva, pero no con precisión cuánto volumen adicional genera cada peso invertido.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77356" y="3474720"/>
            <a:ext cx="5362956" cy="1572768"/>
          </a:xfrm>
          <a:prstGeom prst="roundRect">
            <a:avLst>
              <a:gd name="adj" fmla="val 3488"/>
            </a:avLst>
          </a:prstGeom>
          <a:solidFill>
            <a:srgbClr val="1C17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569964" y="3749040"/>
            <a:ext cx="347472" cy="347472"/>
          </a:xfrm>
          <a:prstGeom prst="ellipse">
            <a:avLst/>
          </a:prstGeom>
          <a:solidFill>
            <a:srgbClr val="C891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569964" y="3749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82028" y="3785616"/>
            <a:ext cx="42656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3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prueba controlada resuelve las tres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569964" y="4261104"/>
            <a:ext cx="4777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mercados con y sin aumento de inversión mide el efecto incremental real y el costo por hectolitro adicional.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DIRECCIÓN DE MARKETING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B2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Recomendación: hacer rendir más cada peso de marketing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AB InBev  |  </a:t>
            </a:r>
            <a:r>
              <a:rPr lang="en-US" sz="9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mixtos</a:t>
            </a: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900" dirty="0" err="1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publicidad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16724"/>
              </p:ext>
            </p:extLst>
          </p:nvPr>
        </p:nvGraphicFramePr>
        <p:xfrm>
          <a:off x="548640" y="1417320"/>
          <a:ext cx="11091672" cy="2724912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Cuándo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gana marketing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Cómo medimos el éxito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8A6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Inmediato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Proteger la cobertura en las tiendas que más venden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cobertura pesa más de cinco veces que el mejor medio: cada punto suma cerca de 1,6 % de volumen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campaña rinde más: no se paga pauta que termina en góndola vacía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Distribución ponderada y quiebres, por marca y región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8A6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semanas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Probar más inversión en TV local y YouTube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Señal positiva y margen en su curva: TV local opera al 30 % y YouTube al 75 %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Saber dónde el siguiente peso compra más volumen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Volumen y costo por hectolitro incremental frente a mercados de control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8A6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semanas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Probar Facebook con menos inversión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Aporta, pero opera al 92 % de su curva: más gasto rendiría como máximo 2,4 %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Liberar presupuesto sin perder volumen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Volumen en mercados con recorte frente a mercados de control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8A6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paralelo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Pausa controlada en canales sin señal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de 14 canales no muestran efecto medible con la inversión actual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Reasignar fondos hacia lo que funciona, con evidencia propia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Volumen con y sin inversión en mercados comparables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956048"/>
            <a:ext cx="11091672" cy="1243584"/>
          </a:xfrm>
          <a:prstGeom prst="roundRect">
            <a:avLst>
              <a:gd name="adj" fmla="val 4412"/>
            </a:avLst>
          </a:prstGeom>
          <a:solidFill>
            <a:srgbClr val="1C17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868680" y="504748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E3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DE ACCION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5303520"/>
            <a:ext cx="10451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Aprobar un presupuesto de prueba acotado por 8 semanas: más inversión en TV local y YouTube, menos en Facebook y pausa en los canales sin señal, cada uno contra mercados de control.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C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3017520"/>
            <a:ext cx="2377440" cy="2377440"/>
          </a:xfrm>
          <a:prstGeom prst="ellipse">
            <a:avLst/>
          </a:prstGeom>
          <a:solidFill>
            <a:srgbClr val="1C1714"/>
          </a:solidFill>
          <a:ln w="12700">
            <a:solidFill>
              <a:srgbClr val="C891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784080" y="2651760"/>
            <a:ext cx="1645920" cy="1645920"/>
          </a:xfrm>
          <a:prstGeom prst="ellipse">
            <a:avLst/>
          </a:prstGeom>
          <a:solidFill>
            <a:srgbClr val="1C1714"/>
          </a:solidFill>
          <a:ln w="12700">
            <a:solidFill>
              <a:srgbClr val="C891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731520" y="2377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E3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COMENTARIOS Y PREGUNTA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7432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8404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3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Víctor Tablas  |  Economista y Data Scientist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AB InBev  |  Marketing Mix Model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5106</Words>
  <Application>Microsoft Office PowerPoint</Application>
  <PresentationFormat>Widescreen</PresentationFormat>
  <Paragraphs>514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 Mix Model - Resultados - Challenge AB InBev</dc:title>
  <dc:subject>PptxGenJS Presentation</dc:subject>
  <dc:creator>Victor Tablas</dc:creator>
  <cp:lastModifiedBy>Víctor Tablas</cp:lastModifiedBy>
  <cp:revision>2</cp:revision>
  <dcterms:created xsi:type="dcterms:W3CDTF">2026-09-22T21:49:57Z</dcterms:created>
  <dcterms:modified xsi:type="dcterms:W3CDTF">2026-09-22T22:30:08Z</dcterms:modified>
</cp:coreProperties>
</file>