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3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Efecto porcentual</c:v>
                </c:pt>
              </c:strCache>
            </c:strRef>
          </c:tx>
          <c:spPr>
            <a:solidFill>
              <a:srgbClr val="8C4A3A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B252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C4A3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A79E9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A79E9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A79E93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A79E93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C8912F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C8912F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C8912F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TV abierta</c:v>
                  </c:pt>
                  <c:pt idx="1">
                    <c:v>Instagram</c:v>
                  </c:pt>
                  <c:pt idx="2">
                    <c:v>TV de pago</c:v>
                  </c:pt>
                  <c:pt idx="3">
                    <c:v>Video digital</c:v>
                  </c:pt>
                  <c:pt idx="4">
                    <c:v>Radio</c:v>
                  </c:pt>
                  <c:pt idx="5">
                    <c:v>YouTube</c:v>
                  </c:pt>
                  <c:pt idx="6">
                    <c:v>TV local</c:v>
                  </c:pt>
                  <c:pt idx="7">
                    <c:v>Facebook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-8.82</c:v>
                </c:pt>
                <c:pt idx="1">
                  <c:v>-8.23</c:v>
                </c:pt>
                <c:pt idx="2">
                  <c:v>-4.54</c:v>
                </c:pt>
                <c:pt idx="3">
                  <c:v>-3.37</c:v>
                </c:pt>
                <c:pt idx="4">
                  <c:v>3.37</c:v>
                </c:pt>
                <c:pt idx="5">
                  <c:v>21.16</c:v>
                </c:pt>
                <c:pt idx="6">
                  <c:v>22.26</c:v>
                </c:pt>
                <c:pt idx="7">
                  <c:v>34.47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2B252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E655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2DCD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E655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RMSE</c:v>
                </c:pt>
              </c:strCache>
            </c:strRef>
          </c:tx>
          <c:spPr>
            <a:solidFill>
              <a:srgbClr val="41545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B252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1545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8912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A79E9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A79E93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A79E93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Estacional t-52</c:v>
                  </c:pt>
                  <c:pt idx="1">
                    <c:v>MMM calibrado</c:v>
                  </c:pt>
                  <c:pt idx="2">
                    <c:v>Venta base</c:v>
                  </c:pt>
                  <c:pt idx="3">
                    <c:v>MMM estándar</c:v>
                  </c:pt>
                  <c:pt idx="4">
                    <c:v>Medios sin transformar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1005.1</c:v>
                </c:pt>
                <c:pt idx="1">
                  <c:v>1280.3</c:v>
                </c:pt>
                <c:pt idx="2">
                  <c:v>1318.1</c:v>
                </c:pt>
                <c:pt idx="3">
                  <c:v>1454.8</c:v>
                </c:pt>
                <c:pt idx="4">
                  <c:v>1456.2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B252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E655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DCD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E655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MMM calibrado + rezago 52</c:v>
                </c:pt>
              </c:strCache>
            </c:strRef>
          </c:tx>
          <c:spPr>
            <a:solidFill>
              <a:srgbClr val="C8912F"/>
            </a:solidFill>
            <a:ln w="38100" cap="flat">
              <a:solidFill>
                <a:srgbClr val="C8912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8912F"/>
              </a:solidFill>
              <a:ln w="9525" cap="flat">
                <a:solidFill>
                  <a:srgbClr val="C8912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V1: may-jul</c:v>
                  </c:pt>
                  <c:pt idx="1">
                    <c:v>V2: jul-sep</c:v>
                  </c:pt>
                  <c:pt idx="2">
                    <c:v>V3: sep-nov</c:v>
                  </c:pt>
                  <c:pt idx="3">
                    <c:v>V4: nov-dic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716.9</c:v>
                </c:pt>
                <c:pt idx="1">
                  <c:v>905.3</c:v>
                </c:pt>
                <c:pt idx="2">
                  <c:v>793.1</c:v>
                </c:pt>
                <c:pt idx="3">
                  <c:v>738.8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Estacional t-52</c:v>
                </c:pt>
              </c:strCache>
            </c:strRef>
          </c:tx>
          <c:spPr>
            <a:solidFill>
              <a:srgbClr val="41545E"/>
            </a:solidFill>
            <a:ln w="38100" cap="flat">
              <a:solidFill>
                <a:srgbClr val="41545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41545E"/>
              </a:solidFill>
              <a:ln w="9525" cap="flat">
                <a:solidFill>
                  <a:srgbClr val="41545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V1: may-jul</c:v>
                  </c:pt>
                  <c:pt idx="1">
                    <c:v>V2: jul-sep</c:v>
                  </c:pt>
                  <c:pt idx="2">
                    <c:v>V3: sep-nov</c:v>
                  </c:pt>
                  <c:pt idx="3">
                    <c:v>V4: nov-dic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812.9</c:v>
                </c:pt>
                <c:pt idx="1">
                  <c:v>804.8</c:v>
                </c:pt>
                <c:pt idx="2">
                  <c:v>1260.3</c:v>
                </c:pt>
                <c:pt idx="3">
                  <c:v>1075.4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MMM calibrado</c:v>
                </c:pt>
              </c:strCache>
            </c:strRef>
          </c:tx>
          <c:spPr>
            <a:solidFill>
              <a:srgbClr val="A79E93"/>
            </a:solidFill>
            <a:ln w="38100" cap="flat">
              <a:solidFill>
                <a:srgbClr val="A79E9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A79E93"/>
              </a:solidFill>
              <a:ln w="9525" cap="flat">
                <a:solidFill>
                  <a:srgbClr val="A79E9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V1: may-jul</c:v>
                  </c:pt>
                  <c:pt idx="1">
                    <c:v>V2: jul-sep</c:v>
                  </c:pt>
                  <c:pt idx="2">
                    <c:v>V3: sep-nov</c:v>
                  </c:pt>
                  <c:pt idx="3">
                    <c:v>V4: nov-dic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999</c:v>
                </c:pt>
                <c:pt idx="1">
                  <c:v>1292.1</c:v>
                </c:pt>
                <c:pt idx="2">
                  <c:v>1311.9</c:v>
                </c:pt>
                <c:pt idx="3">
                  <c:v>1416.3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E655B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DCD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E655B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6E655B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Encuadre: el modelo responde qué se asocia al volumen y con qué grado de evidencia. No es un modelo de pronóstico ni una herramienta de asignación automática de presupuesto.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Abrir con estas tres frases. Si la audiencia solo retiene una lámina, que sea esta.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separación temporal es lo primero que un equipo técnico va a auditar. Dejarla explícita desde el inicio.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Justificar la elección de volumen y el uso de log1p, que preserva las observaciones con cero hectolitros.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criterio de 5% fijado ex ante es lo que impide elegir el modelo después de ver el resultado. Vale la pena señalarlo.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robustez entre especificaciones es el argumento fuerte aquí, no la magnitud puntual del coeficiente.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Advertencia clave: el coeficiente de medios no es un efecto por peso invertido. Es el recorrido completo de la curva.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lámina evita el error más común al presentar un MMM: confundir el efecto fijo de un segmento con su respuesta publicitaria.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el benchmark que gana al propio modelo es lo que da credibilidad al resto de la presentación.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separación entre modelo explicativo y modelo predictivo es el punto más maduro del trabajo. Sostenerla si preguntan por qué no se usa el híbrido para todo.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 la lámina donde más fácil se salta a conclusiones. Insistir en que la posición en la curva describe una transformación, no un retorno.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Declarar limitaciones antes de que las pregunten. En un equipo de Data Science esto suma, no resta.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Cerrar con la frase de la caja oscura. Es la que separa un análisis maduro de una recomendación apresurada.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Mencionar el registro en MLflow solo si preguntan por reproducibilidad.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2560320"/>
            <a:ext cx="2743200" cy="2743200"/>
          </a:xfrm>
          <a:prstGeom prst="ellipse">
            <a:avLst/>
          </a:prstGeom>
          <a:solidFill>
            <a:srgbClr val="1C1714"/>
          </a:solidFill>
          <a:ln w="12700">
            <a:solidFill>
              <a:srgbClr val="C8912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26880" y="2194560"/>
            <a:ext cx="2011680" cy="2011680"/>
          </a:xfrm>
          <a:prstGeom prst="ellipse">
            <a:avLst/>
          </a:prstGeom>
          <a:solidFill>
            <a:srgbClr val="1C1714"/>
          </a:solidFill>
          <a:ln w="12700">
            <a:solidFill>
              <a:srgbClr val="C8912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0" y="1828800"/>
            <a:ext cx="1280160" cy="1280160"/>
          </a:xfrm>
          <a:prstGeom prst="ellipse">
            <a:avLst/>
          </a:prstGeom>
          <a:solidFill>
            <a:srgbClr val="1C1714"/>
          </a:solidFill>
          <a:ln w="12700">
            <a:solidFill>
              <a:srgbClr val="C8912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9659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E3B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 |  DATA SCIENCE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33172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Marketing Mix Model del volumen semanal</a:t>
            </a:r>
            <a:endParaRPr lang="en-US" sz="38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61188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9D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mueve el volumen, con qué evidencia y qué todavía no se puede afirmar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484632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E3B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5084064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156 semanas, 6 marcas, 8 regiones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3063240" y="484632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E3B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ESTIMACIÓN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3063240" y="5084064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17,856 obs. de entrenamiento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5394960" y="484632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E3B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5394960" y="5084064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4,002 obs. fuera de muestra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7726680" y="484632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E3B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7726680" y="5084064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Víctor Tablas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38251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AB InBev  |  Marketing Mix Model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8A6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SÍNTESIS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B25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mensajes centrales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8251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AB InBev  |  Marketing Mix Model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5912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72768"/>
            <a:ext cx="3483864" cy="1783080"/>
          </a:xfrm>
          <a:prstGeom prst="roundRect">
            <a:avLst>
              <a:gd name="adj" fmla="val 3077"/>
            </a:avLst>
          </a:prstGeom>
          <a:solidFill>
            <a:srgbClr val="1C171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1755648"/>
            <a:ext cx="29352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E3B4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+1,62 %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359152"/>
            <a:ext cx="2935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Volumen por punto adicional de distribución ponderada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926080"/>
            <a:ext cx="2935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9D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&lt; 0,01  ·  el efecto más sólido del modelo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52544" y="1572768"/>
            <a:ext cx="3483864" cy="1783080"/>
          </a:xfrm>
          <a:prstGeom prst="roundRect">
            <a:avLst>
              <a:gd name="adj" fmla="val 3077"/>
            </a:avLst>
          </a:prstGeom>
          <a:solidFill>
            <a:srgbClr val="1C171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26864" y="1755648"/>
            <a:ext cx="29352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E3B4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de 8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4626864" y="2359152"/>
            <a:ext cx="2935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Canales con asociación positiva significativa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4626864" y="2926080"/>
            <a:ext cx="2935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9D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Facebook, YouTube y TV local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156448" y="1572768"/>
            <a:ext cx="3483864" cy="1783080"/>
          </a:xfrm>
          <a:prstGeom prst="roundRect">
            <a:avLst>
              <a:gd name="adj" fmla="val 3077"/>
            </a:avLst>
          </a:prstGeom>
          <a:solidFill>
            <a:srgbClr val="1C171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430768" y="1755648"/>
            <a:ext cx="29352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E3B4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+2,9 %</a:t>
            </a:r>
            <a:endParaRPr lang="en-US" sz="3200" dirty="0"/>
          </a:p>
        </p:txBody>
      </p:sp>
      <p:sp>
        <p:nvSpPr>
          <p:cNvPr id="16" name="Text 14"/>
          <p:cNvSpPr txBox="1"/>
          <p:nvPr/>
        </p:nvSpPr>
        <p:spPr>
          <a:xfrm>
            <a:off x="8430768" y="2359152"/>
            <a:ext cx="2935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 de RMSE del MMM frente a la venta base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8430768" y="2926080"/>
            <a:ext cx="2935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9D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Aporte real, pero moderado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3703320"/>
            <a:ext cx="292608" cy="292608"/>
          </a:xfrm>
          <a:prstGeom prst="ellipse">
            <a:avLst/>
          </a:prstGeom>
          <a:solidFill>
            <a:srgbClr val="C8912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48640" y="37033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1005840" y="366674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B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palanca comercial gana a la publicitaria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983480" y="3666744"/>
            <a:ext cx="6656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distribución ponderada es el predictor más consistente y significativo del volumen, por encima de cualquier medio individual.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4453128"/>
            <a:ext cx="292608" cy="292608"/>
          </a:xfrm>
          <a:prstGeom prst="ellipse">
            <a:avLst/>
          </a:prstGeom>
          <a:solidFill>
            <a:srgbClr val="C8912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48640" y="44531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1005840" y="441655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B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medios aportan, pero poco y con incertidumbre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4983480" y="4416552"/>
            <a:ext cx="6656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bloque de medios es conjuntamente significativo (F = 4,66; p &lt; 0,001), aunque su ganancia predictiva sobre la venta base es de 2,9 % en RMSE.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48640" y="5202936"/>
            <a:ext cx="292608" cy="292608"/>
          </a:xfrm>
          <a:prstGeom prst="ellipse">
            <a:avLst/>
          </a:prstGeom>
          <a:solidFill>
            <a:srgbClr val="C8912F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548640" y="52029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1005840" y="516636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B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Nada aquí habilita reasignar presupuesto todavía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4983480" y="5166360"/>
            <a:ext cx="6656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coeficientes son asociaciones. Sin experimentos incrementales ni control de precio y promoción, no hay identificación causal.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8A6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EMPÍRICA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B25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Datos y ventana de estimación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8251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AB InBev  |  Marketing Mix Model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5912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3483864" cy="1645920"/>
          </a:xfrm>
          <a:prstGeom prst="roundRect">
            <a:avLst>
              <a:gd name="adj" fmla="val 3333"/>
            </a:avLst>
          </a:prstGeom>
          <a:solidFill>
            <a:srgbClr val="F5F1EA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1901952"/>
            <a:ext cx="292608" cy="292608"/>
          </a:xfrm>
          <a:prstGeom prst="ellipse">
            <a:avLst/>
          </a:prstGeom>
          <a:solidFill>
            <a:srgbClr val="C8912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9019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286000"/>
            <a:ext cx="2935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B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dependiente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560320"/>
            <a:ext cx="29352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log1p(volume_hl)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Retransformado con smearing de Duan (1,390)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52544" y="1645920"/>
            <a:ext cx="3483864" cy="1645920"/>
          </a:xfrm>
          <a:prstGeom prst="roundRect">
            <a:avLst>
              <a:gd name="adj" fmla="val 3333"/>
            </a:avLst>
          </a:prstGeom>
          <a:solidFill>
            <a:srgbClr val="F5F1EA"/>
          </a:solidFill>
          <a:ln/>
        </p:spPr>
      </p:sp>
      <p:sp>
        <p:nvSpPr>
          <p:cNvPr id="12" name="Shape 10"/>
          <p:cNvSpPr/>
          <p:nvPr/>
        </p:nvSpPr>
        <p:spPr>
          <a:xfrm>
            <a:off x="4626864" y="1901952"/>
            <a:ext cx="292608" cy="292608"/>
          </a:xfrm>
          <a:prstGeom prst="ellipse">
            <a:avLst/>
          </a:prstGeom>
          <a:solidFill>
            <a:srgbClr val="C8912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626864" y="19019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626864" y="2286000"/>
            <a:ext cx="2935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B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Granularidad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626864" y="2560320"/>
            <a:ext cx="29352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x marca x región x subcanal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156448" y="1645920"/>
            <a:ext cx="3483864" cy="1645920"/>
          </a:xfrm>
          <a:prstGeom prst="roundRect">
            <a:avLst>
              <a:gd name="adj" fmla="val 3333"/>
            </a:avLst>
          </a:prstGeom>
          <a:solidFill>
            <a:srgbClr val="F5F1EA"/>
          </a:solidFill>
          <a:ln/>
        </p:spPr>
      </p:sp>
      <p:sp>
        <p:nvSpPr>
          <p:cNvPr id="17" name="Shape 15"/>
          <p:cNvSpPr/>
          <p:nvPr/>
        </p:nvSpPr>
        <p:spPr>
          <a:xfrm>
            <a:off x="8430768" y="1901952"/>
            <a:ext cx="292608" cy="292608"/>
          </a:xfrm>
          <a:prstGeom prst="ellipse">
            <a:avLst/>
          </a:prstGeom>
          <a:solidFill>
            <a:srgbClr val="C8912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430768" y="19019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8430768" y="2286000"/>
            <a:ext cx="2935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B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Entrenamiento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8430768" y="2560320"/>
            <a:ext cx="29352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07/01/2023 a 17/05/2025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124 semanas, 17,856 observaciones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3520440"/>
            <a:ext cx="3483864" cy="1645920"/>
          </a:xfrm>
          <a:prstGeom prst="roundRect">
            <a:avLst>
              <a:gd name="adj" fmla="val 3333"/>
            </a:avLst>
          </a:prstGeom>
          <a:solidFill>
            <a:srgbClr val="F5F1EA"/>
          </a:solidFill>
          <a:ln/>
        </p:spPr>
      </p:sp>
      <p:sp>
        <p:nvSpPr>
          <p:cNvPr id="22" name="Shape 20"/>
          <p:cNvSpPr/>
          <p:nvPr/>
        </p:nvSpPr>
        <p:spPr>
          <a:xfrm>
            <a:off x="822960" y="3776472"/>
            <a:ext cx="292608" cy="292608"/>
          </a:xfrm>
          <a:prstGeom prst="ellipse">
            <a:avLst/>
          </a:prstGeom>
          <a:solidFill>
            <a:srgbClr val="C8912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22960" y="37764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822960" y="4160520"/>
            <a:ext cx="2935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B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822960" y="4434840"/>
            <a:ext cx="29352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24/05/2025 a 27/12/2025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semanas, 4,002 observaciones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352544" y="3520440"/>
            <a:ext cx="3483864" cy="1645920"/>
          </a:xfrm>
          <a:prstGeom prst="roundRect">
            <a:avLst>
              <a:gd name="adj" fmla="val 3333"/>
            </a:avLst>
          </a:prstGeom>
          <a:solidFill>
            <a:srgbClr val="F5F1EA"/>
          </a:solidFill>
          <a:ln/>
        </p:spPr>
      </p:sp>
      <p:sp>
        <p:nvSpPr>
          <p:cNvPr id="27" name="Shape 25"/>
          <p:cNvSpPr/>
          <p:nvPr/>
        </p:nvSpPr>
        <p:spPr>
          <a:xfrm>
            <a:off x="4626864" y="3776472"/>
            <a:ext cx="292608" cy="292608"/>
          </a:xfrm>
          <a:prstGeom prst="ellipse">
            <a:avLst/>
          </a:prstGeom>
          <a:solidFill>
            <a:srgbClr val="C8912F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4626864" y="37764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4626864" y="4160520"/>
            <a:ext cx="2935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B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 integradas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4626864" y="4434840"/>
            <a:ext cx="29352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Ventas, inversión en medios, distribución en punto de venta y contexto regional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156448" y="3520440"/>
            <a:ext cx="3483864" cy="1645920"/>
          </a:xfrm>
          <a:prstGeom prst="roundRect">
            <a:avLst>
              <a:gd name="adj" fmla="val 3333"/>
            </a:avLst>
          </a:prstGeom>
          <a:solidFill>
            <a:srgbClr val="F5F1EA"/>
          </a:solidFill>
          <a:ln/>
        </p:spPr>
      </p:sp>
      <p:sp>
        <p:nvSpPr>
          <p:cNvPr id="32" name="Shape 30"/>
          <p:cNvSpPr/>
          <p:nvPr/>
        </p:nvSpPr>
        <p:spPr>
          <a:xfrm>
            <a:off x="8430768" y="3776472"/>
            <a:ext cx="292608" cy="292608"/>
          </a:xfrm>
          <a:prstGeom prst="ellipse">
            <a:avLst/>
          </a:prstGeom>
          <a:solidFill>
            <a:srgbClr val="C8912F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430768" y="37764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8430768" y="4160520"/>
            <a:ext cx="2935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B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Exclusión explícita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8430768" y="4434840"/>
            <a:ext cx="29352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 regional: cobertura incompleta y alta proporción de imputación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548640" y="557784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corte temporal es estricto: la prueba nunca participa en la calibración de parámetros ni en la selección de especificación.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8A6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B25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Especificación del modelo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8251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AB InBev  |  Marketing Mix Model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5912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11091672" cy="960120"/>
          </a:xfrm>
          <a:prstGeom prst="roundRect">
            <a:avLst>
              <a:gd name="adj" fmla="val 5714"/>
            </a:avLst>
          </a:prstGeom>
          <a:solidFill>
            <a:srgbClr val="F5F1E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1828800"/>
            <a:ext cx="10451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B25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log(1 + volumen)  =  venta base  +  Σ η · Saturación( Adstock( inversión ) )  +  error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48640" y="2788920"/>
            <a:ext cx="2567178" cy="2240280"/>
          </a:xfrm>
          <a:prstGeom prst="roundRect">
            <a:avLst>
              <a:gd name="adj" fmla="val 2449"/>
            </a:avLst>
          </a:prstGeom>
          <a:solidFill>
            <a:srgbClr val="F5F1EA"/>
          </a:solidFill>
          <a:ln/>
        </p:spPr>
      </p:sp>
      <p:sp>
        <p:nvSpPr>
          <p:cNvPr id="9" name="Shape 7"/>
          <p:cNvSpPr/>
          <p:nvPr/>
        </p:nvSpPr>
        <p:spPr>
          <a:xfrm>
            <a:off x="804672" y="3017520"/>
            <a:ext cx="347472" cy="347472"/>
          </a:xfrm>
          <a:prstGeom prst="ellipse">
            <a:avLst/>
          </a:prstGeom>
          <a:solidFill>
            <a:srgbClr val="C8912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04672" y="30175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804672" y="3474720"/>
            <a:ext cx="20551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B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 base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04672" y="3822192"/>
            <a:ext cx="205511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ponderada, clima, eventos y feriados, más efectos fijos de marca, región y subcanal.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90138" y="2788920"/>
            <a:ext cx="2567178" cy="2240280"/>
          </a:xfrm>
          <a:prstGeom prst="roundRect">
            <a:avLst>
              <a:gd name="adj" fmla="val 2449"/>
            </a:avLst>
          </a:prstGeom>
          <a:solidFill>
            <a:srgbClr val="F5F1EA"/>
          </a:solidFill>
          <a:ln/>
        </p:spPr>
      </p:sp>
      <p:sp>
        <p:nvSpPr>
          <p:cNvPr id="14" name="Shape 12"/>
          <p:cNvSpPr/>
          <p:nvPr/>
        </p:nvSpPr>
        <p:spPr>
          <a:xfrm>
            <a:off x="3646170" y="3017520"/>
            <a:ext cx="347472" cy="347472"/>
          </a:xfrm>
          <a:prstGeom prst="ellipse">
            <a:avLst/>
          </a:prstGeom>
          <a:solidFill>
            <a:srgbClr val="C8912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646170" y="30175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3646170" y="3474720"/>
            <a:ext cx="20551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B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Adstock geométrico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3646170" y="3822192"/>
            <a:ext cx="205511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A(t) = M(t) + θ·A(t-1). Representa la memoria publicitaria: qué proporción del efecto sobrevive a la semana siguiente.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31636" y="2788920"/>
            <a:ext cx="2567178" cy="2240280"/>
          </a:xfrm>
          <a:prstGeom prst="roundRect">
            <a:avLst>
              <a:gd name="adj" fmla="val 2449"/>
            </a:avLst>
          </a:prstGeom>
          <a:solidFill>
            <a:srgbClr val="F5F1EA"/>
          </a:solidFill>
          <a:ln/>
        </p:spPr>
      </p:sp>
      <p:sp>
        <p:nvSpPr>
          <p:cNvPr id="19" name="Shape 17"/>
          <p:cNvSpPr/>
          <p:nvPr/>
        </p:nvSpPr>
        <p:spPr>
          <a:xfrm>
            <a:off x="6487668" y="3017520"/>
            <a:ext cx="347472" cy="347472"/>
          </a:xfrm>
          <a:prstGeom prst="ellipse">
            <a:avLst/>
          </a:prstGeom>
          <a:solidFill>
            <a:srgbClr val="C8912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87668" y="30175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487668" y="3474720"/>
            <a:ext cx="20551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B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Saturación de Hill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487668" y="3822192"/>
            <a:ext cx="205511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S(x) = x^α / (x^α + γ^α). Impone rendimientos marginales decrecientes: γ es el punto de media saturación.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073134" y="2788920"/>
            <a:ext cx="2567178" cy="2240280"/>
          </a:xfrm>
          <a:prstGeom prst="roundRect">
            <a:avLst>
              <a:gd name="adj" fmla="val 2449"/>
            </a:avLst>
          </a:prstGeom>
          <a:solidFill>
            <a:srgbClr val="F5F1EA"/>
          </a:solidFill>
          <a:ln/>
        </p:spPr>
      </p:sp>
      <p:sp>
        <p:nvSpPr>
          <p:cNvPr id="24" name="Shape 22"/>
          <p:cNvSpPr/>
          <p:nvPr/>
        </p:nvSpPr>
        <p:spPr>
          <a:xfrm>
            <a:off x="9329166" y="3017520"/>
            <a:ext cx="347472" cy="347472"/>
          </a:xfrm>
          <a:prstGeom prst="ellipse">
            <a:avLst/>
          </a:prstGeom>
          <a:solidFill>
            <a:srgbClr val="C8912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329166" y="30175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9329166" y="3474720"/>
            <a:ext cx="205511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B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Referencias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9329166" y="3822192"/>
            <a:ext cx="205511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 C, Región A y Subcanal B como categorías omitidas. Los coeficientes se leen como diferencias frente a ellas.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52578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elige volumen y no facturación porque la facturación mezcla cantidad, precio y mix de producto en una sola serie.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8A6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B25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Calibración de medios por canal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8251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AB InBev  |  Marketing Mix Model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5912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57276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canal se evaluó con 18 combinaciones de θ, α y γ. Se seleccionó la de menor RMSE en la ventana de validación, condicionada a un coeficiente positivo.</a:t>
            </a:r>
            <a:endParaRPr lang="en-US" sz="12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57400"/>
          <a:ext cx="658368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463040"/>
                <a:gridCol w="1280160"/>
                <a:gridCol w="164592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71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θ (memoria)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71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α (forma)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71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γ (media saturación)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71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Facebook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YouTube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TV local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Video digital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Instagram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Radio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TV abierta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TV de pago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P75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7452360" y="2057400"/>
            <a:ext cx="4187952" cy="1508760"/>
          </a:xfrm>
          <a:prstGeom prst="roundRect">
            <a:avLst>
              <a:gd name="adj" fmla="val 3636"/>
            </a:avLst>
          </a:prstGeom>
          <a:solidFill>
            <a:srgbClr val="1C1714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726680" y="22402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3B4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de 14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7726680" y="2697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canales clasificados como no concluyentes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7726680" y="30175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9D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Cine, display y búsqueda, publicidad exterior, medios impresos, TikTok y Twitter: ninguna combinación produjo efecto positivo.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7452360" y="3703320"/>
            <a:ext cx="4187952" cy="1325880"/>
          </a:xfrm>
          <a:prstGeom prst="roundRect">
            <a:avLst>
              <a:gd name="adj" fmla="val 4138"/>
            </a:avLst>
          </a:prstGeom>
          <a:solidFill>
            <a:srgbClr val="F5F1E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726680" y="3886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8A6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 preespecificada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7726680" y="4178808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fijó antes de ver resultados que el MMM estándar se preferiría por parsimonia si su RMSE no superaba en 5 % al calibrado. Lo superó en 6,71 %, por lo que se mantuvo el calibrado.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525780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Ventana de calibración: 07/01/2023 a 23/11/2024. Ventana de validación: 30/11/2024 a 17/05/2025. La prueba no interviene.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8A6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B25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Venta base: la distribución domina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8251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AB InBev  |  Marketing Mix Model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5912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2567178" cy="1874520"/>
          </a:xfrm>
          <a:prstGeom prst="roundRect">
            <a:avLst>
              <a:gd name="adj" fmla="val 2927"/>
            </a:avLst>
          </a:prstGeom>
          <a:solidFill>
            <a:srgbClr val="1C171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86384" y="1847088"/>
            <a:ext cx="20916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3B4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+1,62 %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786384" y="2432304"/>
            <a:ext cx="20916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ponderada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86384" y="2999232"/>
            <a:ext cx="209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9D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punto adicional  ·  p &lt; 0,01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90138" y="1645920"/>
            <a:ext cx="2567178" cy="1874520"/>
          </a:xfrm>
          <a:prstGeom prst="roundRect">
            <a:avLst>
              <a:gd name="adj" fmla="val 2927"/>
            </a:avLst>
          </a:prstGeom>
          <a:solidFill>
            <a:srgbClr val="1C171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627882" y="1847088"/>
            <a:ext cx="20916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3B4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+3,20 %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3627882" y="2432304"/>
            <a:ext cx="20916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Temperatura promedio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3627882" y="2999232"/>
            <a:ext cx="209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9D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grado adicional  ·  p &lt; 0,01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31636" y="1645920"/>
            <a:ext cx="2567178" cy="1874520"/>
          </a:xfrm>
          <a:prstGeom prst="roundRect">
            <a:avLst>
              <a:gd name="adj" fmla="val 2927"/>
            </a:avLst>
          </a:prstGeom>
          <a:solidFill>
            <a:srgbClr val="1C171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69380" y="1847088"/>
            <a:ext cx="20916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D9D0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-10,98 %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6469380" y="2432304"/>
            <a:ext cx="20916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con feriado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6469380" y="2999232"/>
            <a:ext cx="209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9D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0,073  ·  evidencia débil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073134" y="1645920"/>
            <a:ext cx="2567178" cy="1874520"/>
          </a:xfrm>
          <a:prstGeom prst="roundRect">
            <a:avLst>
              <a:gd name="adj" fmla="val 2927"/>
            </a:avLst>
          </a:prstGeom>
          <a:solidFill>
            <a:srgbClr val="1C171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310878" y="1847088"/>
            <a:ext cx="20916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D9D0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 efecto</a:t>
            </a:r>
            <a:endParaRPr lang="en-US" sz="2600" dirty="0"/>
          </a:p>
        </p:txBody>
      </p:sp>
      <p:sp>
        <p:nvSpPr>
          <p:cNvPr id="20" name="Text 18"/>
          <p:cNvSpPr txBox="1"/>
          <p:nvPr/>
        </p:nvSpPr>
        <p:spPr>
          <a:xfrm>
            <a:off x="9310878" y="2432304"/>
            <a:ext cx="209169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 deportivos y sociales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9310878" y="2999232"/>
            <a:ext cx="20916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9D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0,52 y p = 0,20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379476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6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la distribución es el resultado más defendible del modelo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4133088"/>
            <a:ext cx="110916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coeficiente con mayor magnitud estandarizada del bloque no estructural (0,263), por encima de cualquier medio.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Mantiene signo, magnitud y significancia en las siete especificaciones comparadas, incluyendo las que controlan por el volumen del año anterior.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variable sobre la que el equipo comercial tiene control directo y verificable, a diferencia del clima.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8A6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B25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Medios: tres canales con evidencia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8251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AB InBev  |  Marketing Mix Model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5912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572768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Efecto asociado al recorrido completo de la curva de saturación, en porcentaje sobre el volumen</a:t>
            </a:r>
            <a:endParaRPr lang="en-US" sz="1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57200" y="1874520"/>
          <a:ext cx="722376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7909560" y="1874520"/>
            <a:ext cx="3730752" cy="1024128"/>
          </a:xfrm>
          <a:prstGeom prst="roundRect">
            <a:avLst>
              <a:gd name="adj" fmla="val 5357"/>
            </a:avLst>
          </a:prstGeom>
          <a:solidFill>
            <a:srgbClr val="F5F1E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156448" y="199339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8A6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Positivos y significativos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8156448" y="2267712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 (p = 0,003), YouTube (p = 0,003) y TV local (p = 0,015). Son candidatos a prueba, no a reasignación.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909560" y="3044952"/>
            <a:ext cx="3730752" cy="1024128"/>
          </a:xfrm>
          <a:prstGeom prst="roundRect">
            <a:avLst>
              <a:gd name="adj" fmla="val 5357"/>
            </a:avLst>
          </a:prstGeom>
          <a:solidFill>
            <a:srgbClr val="F5F1EA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156448" y="3163824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8A6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Solidez del bloque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8156448" y="3438144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 conjunto de los 8 coeficientes: F = 4,66; p &lt; 0,001. VIF máximo de 2,42, sin colinealidad problemática.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7909560" y="4215384"/>
            <a:ext cx="3730752" cy="1024128"/>
          </a:xfrm>
          <a:prstGeom prst="roundRect">
            <a:avLst>
              <a:gd name="adj" fmla="val 5357"/>
            </a:avLst>
          </a:prstGeom>
          <a:solidFill>
            <a:srgbClr val="F5F1E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156448" y="4334256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8A6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signo negativo de TV abierta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8156448" y="4608576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0,062. No prueba que reduzca ventas: puede reflejar activación en semanas débiles o asignación endógena del gasto.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539496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escala no es comparable con la de un punto de distribución: el medio entra ya transformado por adstock y saturación, acotado entre 0 y 1.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8A6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B25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Efectos estructurales: escala, no respuesta publicitaria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8251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AB InBev  |  Marketing Mix Model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5912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667512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286000"/>
                <a:gridCol w="1737360"/>
                <a:gridCol w="118872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Dimensión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71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Categoría con mayor efecto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71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Diferencia vs. referencia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71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Referencia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71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Subcanal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Subcanal 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+886 %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Subcanal 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Región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Región 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+700 %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Región 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Marca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Marca 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+544 %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Marca 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Marca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Marca F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+447 %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B25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Marca 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45720" marB="45720" anchor="ctr">
                    <a:lnL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C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3657600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significativos al 1 %, salvo la Región C, que no difiere de la referencia.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452360" y="1645920"/>
            <a:ext cx="4187952" cy="2331720"/>
          </a:xfrm>
          <a:prstGeom prst="roundRect">
            <a:avLst>
              <a:gd name="adj" fmla="val 2353"/>
            </a:avLst>
          </a:prstGeom>
          <a:solidFill>
            <a:srgbClr val="1C1714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726680" y="1847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3B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 correcta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7726680" y="219456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Estas diferencias capturan tamaño, cobertura, portafolio y condiciones comerciales. No miden sensibilidad a la publicidad y no justifican concentrar inversión de medios en Región D o Subcanal C.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420624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6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haría falta para recomendar por territorio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4526280"/>
            <a:ext cx="110916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Interacciones entre medios y segmentos, para estimar respuestas diferenciadas.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Elasticidades por grupo, no un coeficiente común a todo el panel.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B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Experimentos incrementales con mercados de control.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8A6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B25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Desempeño fuera de muestra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8251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AB InBev  |  Marketing Mix Model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5912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572768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sobre las mismas 4,002 observaciones de prueba, en hectolitros. Menor es mejor.</a:t>
            </a:r>
            <a:endParaRPr lang="en-US" sz="1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57200" y="1874520"/>
          <a:ext cx="722376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7909560" y="1874520"/>
            <a:ext cx="3730752" cy="969264"/>
          </a:xfrm>
          <a:prstGeom prst="roundRect">
            <a:avLst>
              <a:gd name="adj" fmla="val 5660"/>
            </a:avLst>
          </a:prstGeom>
          <a:solidFill>
            <a:srgbClr val="F5F1E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156448" y="198424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8A6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medios sí aportan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8156448" y="2258568"/>
            <a:ext cx="3246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MMM calibrado mejora el RMSE de la venta base en 2,87 % y el MAE en 3,22 %. R² de prueba: 0,650.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909560" y="2990088"/>
            <a:ext cx="3730752" cy="969264"/>
          </a:xfrm>
          <a:prstGeom prst="roundRect">
            <a:avLst>
              <a:gd name="adj" fmla="val 5660"/>
            </a:avLst>
          </a:prstGeom>
          <a:solidFill>
            <a:srgbClr val="F5F1EA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156448" y="3099816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8A6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Adstock y saturación se ganan su lugar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8156448" y="3374136"/>
            <a:ext cx="3246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inversión sin transformar empeora el RMSE en 10,5 % frente a la venta base. La memoria y los rendimientos decrecientes no son adorno.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7909560" y="4105656"/>
            <a:ext cx="3730752" cy="969264"/>
          </a:xfrm>
          <a:prstGeom prst="roundRect">
            <a:avLst>
              <a:gd name="adj" fmla="val 5660"/>
            </a:avLst>
          </a:prstGeom>
          <a:solidFill>
            <a:srgbClr val="F5F1E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156448" y="4215384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8A6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Honestidad sobre el alcance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8156448" y="4489704"/>
            <a:ext cx="3246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estacional ingenuo predice mejor (RMSE 1,005 hL). El MMM no es la mejor herramienta de pronóstico y no pretende serlo.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8A6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B25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Backtesting: cuatro ventanas de ocho semanas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8251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AB InBev  |  Marketing Mix Model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5912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57276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por ventana, en hectolitros. Entrenamiento expansivo, parámetros de medios congelados antes de la prueba.</a:t>
            </a:r>
            <a:endParaRPr lang="en-US" sz="1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57200" y="1874520"/>
          <a:ext cx="73152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8092440" y="1874520"/>
            <a:ext cx="3547872" cy="3200400"/>
          </a:xfrm>
          <a:prstGeom prst="roundRect">
            <a:avLst>
              <a:gd name="adj" fmla="val 1714"/>
            </a:avLst>
          </a:prstGeom>
          <a:solidFill>
            <a:srgbClr val="F5F1E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366760" y="208483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8A6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usos, dos modelos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8366760" y="2423160"/>
            <a:ext cx="30175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B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leer medios: el MMM calibrado sin rezago. Supera a la venta base en las cuatro ventanas.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B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pronosticar: el híbrido con rezago anual. R² global de 0,867, RMSE de 789 hL y la menor dispersión entre ventanas (73 hL frente a 191 del estacional).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B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coeficiente del rezago absorbe persistencia comercial. No debe leerse como contribución publicitaria.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8A6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B25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Posición reciente en la curva de saturación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8251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AB InBev  |  Marketing Mix Model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5912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57276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B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Mediana de las últimas ocho semanas, medida como A/γ. El valor 1 marca el punto de media saturación.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011680"/>
            <a:ext cx="3483864" cy="2606040"/>
          </a:xfrm>
          <a:prstGeom prst="roundRect">
            <a:avLst>
              <a:gd name="adj" fmla="val 2105"/>
            </a:avLst>
          </a:prstGeom>
          <a:solidFill>
            <a:srgbClr val="F5F1EA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2240280"/>
            <a:ext cx="457200" cy="146304"/>
          </a:xfrm>
          <a:prstGeom prst="roundRect">
            <a:avLst>
              <a:gd name="adj" fmla="val 18750"/>
            </a:avLst>
          </a:prstGeom>
          <a:solidFill>
            <a:srgbClr val="C8912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2487168"/>
            <a:ext cx="2935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B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del punto de media saturación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035808"/>
            <a:ext cx="29352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 local, publicidad exterior y TV de pago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005072"/>
            <a:ext cx="2935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8A6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 con pendiente marginal más alta dentro de la curva estimada.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352544" y="2011680"/>
            <a:ext cx="3483864" cy="2606040"/>
          </a:xfrm>
          <a:prstGeom prst="roundRect">
            <a:avLst>
              <a:gd name="adj" fmla="val 2105"/>
            </a:avLst>
          </a:prstGeom>
          <a:solidFill>
            <a:srgbClr val="F5F1EA"/>
          </a:solidFill>
          <a:ln/>
        </p:spPr>
      </p:sp>
      <p:sp>
        <p:nvSpPr>
          <p:cNvPr id="13" name="Shape 11"/>
          <p:cNvSpPr/>
          <p:nvPr/>
        </p:nvSpPr>
        <p:spPr>
          <a:xfrm>
            <a:off x="4626864" y="2240280"/>
            <a:ext cx="457200" cy="146304"/>
          </a:xfrm>
          <a:prstGeom prst="roundRect">
            <a:avLst>
              <a:gd name="adj" fmla="val 18750"/>
            </a:avLst>
          </a:prstGeom>
          <a:solidFill>
            <a:srgbClr val="41545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626864" y="2487168"/>
            <a:ext cx="2935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B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Después del punto de media saturación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626864" y="3035808"/>
            <a:ext cx="29352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y búsqueda, video digital, Facebook, Instagram, TV abierta, medios impresos, radio, TikTok, Twitter y YouTube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626864" y="4005072"/>
            <a:ext cx="2935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8A6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superaron el 50 % de su respuesta máxima estimada.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156448" y="2011680"/>
            <a:ext cx="3483864" cy="2606040"/>
          </a:xfrm>
          <a:prstGeom prst="roundRect">
            <a:avLst>
              <a:gd name="adj" fmla="val 2105"/>
            </a:avLst>
          </a:prstGeom>
          <a:solidFill>
            <a:srgbClr val="F5F1EA"/>
          </a:solidFill>
          <a:ln/>
        </p:spPr>
      </p:sp>
      <p:sp>
        <p:nvSpPr>
          <p:cNvPr id="18" name="Shape 16"/>
          <p:cNvSpPr/>
          <p:nvPr/>
        </p:nvSpPr>
        <p:spPr>
          <a:xfrm>
            <a:off x="8430768" y="2240280"/>
            <a:ext cx="457200" cy="146304"/>
          </a:xfrm>
          <a:prstGeom prst="roundRect">
            <a:avLst>
              <a:gd name="adj" fmla="val 18750"/>
            </a:avLst>
          </a:prstGeom>
          <a:solidFill>
            <a:srgbClr val="A79E9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430768" y="2487168"/>
            <a:ext cx="2935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B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presión publicitaria relevante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8430768" y="3035808"/>
            <a:ext cx="29352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8430768" y="4005072"/>
            <a:ext cx="2935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8A6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actividad suficiente para evaluar su posición.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4846320"/>
            <a:ext cx="11091672" cy="868680"/>
          </a:xfrm>
          <a:prstGeom prst="roundRect">
            <a:avLst>
              <a:gd name="adj" fmla="val 6316"/>
            </a:avLst>
          </a:prstGeom>
          <a:solidFill>
            <a:srgbClr val="1C171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68680" y="5047488"/>
            <a:ext cx="10451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Estar después del punto de media saturación no implica recortar presupuesto: la decisión exige además el coeficiente del medio, su incertidumbre y el costo de la siguiente unidad invertida.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8A6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TRANSPARENCIA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B25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no puede afirmar este modelo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8251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AB InBev  |  Marketing Mix Model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5912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362956" cy="1508760"/>
          </a:xfrm>
          <a:prstGeom prst="roundRect">
            <a:avLst>
              <a:gd name="adj" fmla="val 3636"/>
            </a:avLst>
          </a:prstGeom>
          <a:solidFill>
            <a:srgbClr val="F5F1EA"/>
          </a:solidFill>
          <a:ln/>
        </p:spPr>
      </p:sp>
      <p:sp>
        <p:nvSpPr>
          <p:cNvPr id="7" name="Shape 5"/>
          <p:cNvSpPr/>
          <p:nvPr/>
        </p:nvSpPr>
        <p:spPr>
          <a:xfrm>
            <a:off x="841248" y="1984248"/>
            <a:ext cx="347472" cy="347472"/>
          </a:xfrm>
          <a:prstGeom prst="ellipse">
            <a:avLst/>
          </a:prstGeom>
          <a:solidFill>
            <a:srgbClr val="8C4A3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41248" y="19842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2020824"/>
            <a:ext cx="42656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B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identificación causal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41248" y="2496312"/>
            <a:ext cx="47777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presupuesto se asigna en respuesta a expectativas de demanda. Una asociación estimada no garantiza el resultado de aumentar el gasto.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77356" y="1691640"/>
            <a:ext cx="5362956" cy="1508760"/>
          </a:xfrm>
          <a:prstGeom prst="roundRect">
            <a:avLst>
              <a:gd name="adj" fmla="val 3636"/>
            </a:avLst>
          </a:prstGeom>
          <a:solidFill>
            <a:srgbClr val="F5F1EA"/>
          </a:solidFill>
          <a:ln/>
        </p:spPr>
      </p:sp>
      <p:sp>
        <p:nvSpPr>
          <p:cNvPr id="12" name="Shape 10"/>
          <p:cNvSpPr/>
          <p:nvPr/>
        </p:nvSpPr>
        <p:spPr>
          <a:xfrm>
            <a:off x="6569964" y="1984248"/>
            <a:ext cx="347472" cy="347472"/>
          </a:xfrm>
          <a:prstGeom prst="ellipse">
            <a:avLst/>
          </a:prstGeom>
          <a:solidFill>
            <a:srgbClr val="8C4A3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569964" y="19842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7082028" y="2020824"/>
            <a:ext cx="42656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B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Faltan precio y promoción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569964" y="2496312"/>
            <a:ext cx="47777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panel no incluye estas variables. Su ausencia puede cargarse sobre los coeficientes de medios.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474720"/>
            <a:ext cx="5362956" cy="1508760"/>
          </a:xfrm>
          <a:prstGeom prst="roundRect">
            <a:avLst>
              <a:gd name="adj" fmla="val 3636"/>
            </a:avLst>
          </a:prstGeom>
          <a:solidFill>
            <a:srgbClr val="F5F1EA"/>
          </a:solidFill>
          <a:ln/>
        </p:spPr>
      </p:sp>
      <p:sp>
        <p:nvSpPr>
          <p:cNvPr id="17" name="Shape 15"/>
          <p:cNvSpPr/>
          <p:nvPr/>
        </p:nvSpPr>
        <p:spPr>
          <a:xfrm>
            <a:off x="841248" y="3767328"/>
            <a:ext cx="347472" cy="347472"/>
          </a:xfrm>
          <a:prstGeom prst="ellipse">
            <a:avLst/>
          </a:prstGeom>
          <a:solidFill>
            <a:srgbClr val="8C4A3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41248" y="37673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353312" y="3803904"/>
            <a:ext cx="42656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B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Residuos mal comportados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41248" y="4279392"/>
            <a:ext cx="47777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Heterocedasticidad (Breusch-Pagan, p &lt; 0,001) y autocorrelación remanente en los rezagos 8 y 13 semanas.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77356" y="3474720"/>
            <a:ext cx="5362956" cy="1508760"/>
          </a:xfrm>
          <a:prstGeom prst="roundRect">
            <a:avLst>
              <a:gd name="adj" fmla="val 3636"/>
            </a:avLst>
          </a:prstGeom>
          <a:solidFill>
            <a:srgbClr val="F5F1EA"/>
          </a:solidFill>
          <a:ln/>
        </p:spPr>
      </p:sp>
      <p:sp>
        <p:nvSpPr>
          <p:cNvPr id="22" name="Shape 20"/>
          <p:cNvSpPr/>
          <p:nvPr/>
        </p:nvSpPr>
        <p:spPr>
          <a:xfrm>
            <a:off x="6569964" y="3767328"/>
            <a:ext cx="347472" cy="347472"/>
          </a:xfrm>
          <a:prstGeom prst="ellipse">
            <a:avLst/>
          </a:prstGeom>
          <a:solidFill>
            <a:srgbClr val="8C4A3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569964" y="37673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082028" y="3803904"/>
            <a:ext cx="42656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B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Incertidumbre de calibración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569964" y="4279392"/>
            <a:ext cx="47777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θ, α y γ se eligieron entre alternativas discretas. La combinación ganadora no elimina la incertidumbre sobre esos parámetros.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539496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sirve para formular hipótesis comerciales y diseñar pruebas. No sustituye un experimento.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8A6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16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B25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Recomendación y próximos pasos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38251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AB InBev  |  Marketing Mix Model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0725912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2567178" cy="2514600"/>
          </a:xfrm>
          <a:prstGeom prst="roundRect">
            <a:avLst>
              <a:gd name="adj" fmla="val 2182"/>
            </a:avLst>
          </a:prstGeom>
          <a:solidFill>
            <a:srgbClr val="F5F1EA"/>
          </a:solidFill>
          <a:ln/>
        </p:spPr>
      </p:sp>
      <p:sp>
        <p:nvSpPr>
          <p:cNvPr id="7" name="Shape 5"/>
          <p:cNvSpPr/>
          <p:nvPr/>
        </p:nvSpPr>
        <p:spPr>
          <a:xfrm>
            <a:off x="786384" y="1965960"/>
            <a:ext cx="365760" cy="365760"/>
          </a:xfrm>
          <a:prstGeom prst="ellipse">
            <a:avLst/>
          </a:prstGeom>
          <a:solidFill>
            <a:srgbClr val="C8912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86384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243584" y="1965960"/>
            <a:ext cx="16527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6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Ahora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86384" y="2487168"/>
            <a:ext cx="209169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B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Proteger distribución y disponibilidad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786384" y="3310128"/>
            <a:ext cx="209169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palanca con mayor respaldo estadístico y control comercial directo.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90138" y="1737360"/>
            <a:ext cx="2567178" cy="2514600"/>
          </a:xfrm>
          <a:prstGeom prst="roundRect">
            <a:avLst>
              <a:gd name="adj" fmla="val 2182"/>
            </a:avLst>
          </a:prstGeom>
          <a:solidFill>
            <a:srgbClr val="F5F1EA"/>
          </a:solidFill>
          <a:ln/>
        </p:spPr>
      </p:sp>
      <p:sp>
        <p:nvSpPr>
          <p:cNvPr id="13" name="Shape 11"/>
          <p:cNvSpPr/>
          <p:nvPr/>
        </p:nvSpPr>
        <p:spPr>
          <a:xfrm>
            <a:off x="3627882" y="1965960"/>
            <a:ext cx="365760" cy="365760"/>
          </a:xfrm>
          <a:prstGeom prst="ellipse">
            <a:avLst/>
          </a:prstGeom>
          <a:solidFill>
            <a:srgbClr val="C8912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627882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085082" y="1965960"/>
            <a:ext cx="16527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6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627882" y="2487168"/>
            <a:ext cx="209169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B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pruebas incrementales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3627882" y="3310128"/>
            <a:ext cx="209169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Facebook, YouTube y TV local, con mercados de control geográfico.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31636" y="1737360"/>
            <a:ext cx="2567178" cy="2514600"/>
          </a:xfrm>
          <a:prstGeom prst="roundRect">
            <a:avLst>
              <a:gd name="adj" fmla="val 2182"/>
            </a:avLst>
          </a:prstGeom>
          <a:solidFill>
            <a:srgbClr val="F5F1EA"/>
          </a:solidFill>
          <a:ln/>
        </p:spPr>
      </p:sp>
      <p:sp>
        <p:nvSpPr>
          <p:cNvPr id="19" name="Shape 17"/>
          <p:cNvSpPr/>
          <p:nvPr/>
        </p:nvSpPr>
        <p:spPr>
          <a:xfrm>
            <a:off x="6469380" y="1965960"/>
            <a:ext cx="365760" cy="365760"/>
          </a:xfrm>
          <a:prstGeom prst="ellipse">
            <a:avLst/>
          </a:prstGeom>
          <a:solidFill>
            <a:srgbClr val="C8912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69380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926580" y="1965960"/>
            <a:ext cx="16527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6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paralelo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469380" y="2487168"/>
            <a:ext cx="209169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B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Incorporar precio y promoción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6469380" y="3310128"/>
            <a:ext cx="209169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el riesgo de que los coeficientes de medios absorban efectos ajenos.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073134" y="1737360"/>
            <a:ext cx="2567178" cy="2514600"/>
          </a:xfrm>
          <a:prstGeom prst="roundRect">
            <a:avLst>
              <a:gd name="adj" fmla="val 2182"/>
            </a:avLst>
          </a:prstGeom>
          <a:solidFill>
            <a:srgbClr val="F5F1EA"/>
          </a:solidFill>
          <a:ln/>
        </p:spPr>
      </p:sp>
      <p:sp>
        <p:nvSpPr>
          <p:cNvPr id="25" name="Shape 23"/>
          <p:cNvSpPr/>
          <p:nvPr/>
        </p:nvSpPr>
        <p:spPr>
          <a:xfrm>
            <a:off x="9310878" y="1965960"/>
            <a:ext cx="365760" cy="365760"/>
          </a:xfrm>
          <a:prstGeom prst="ellipse">
            <a:avLst/>
          </a:prstGeom>
          <a:solidFill>
            <a:srgbClr val="C8912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310878" y="1965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9768078" y="1965960"/>
            <a:ext cx="16527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64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Después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9310878" y="2487168"/>
            <a:ext cx="209169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B25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Estimar respuestas por segmento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9310878" y="3310128"/>
            <a:ext cx="209169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Interacciones medio x región y medio x subcanal antes de reasignar territorio.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4572000"/>
            <a:ext cx="11091672" cy="1005840"/>
          </a:xfrm>
          <a:prstGeom prst="roundRect">
            <a:avLst>
              <a:gd name="adj" fmla="val 5455"/>
            </a:avLst>
          </a:prstGeom>
          <a:solidFill>
            <a:srgbClr val="1C1714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68680" y="4828032"/>
            <a:ext cx="10451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Ninguna reasignación relevante de presupuesto debería apoyarse únicamente en los efectos fijos o en la significancia de esta regresión.</a:t>
            </a:r>
            <a:endParaRPr lang="en-US" sz="14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C1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3017520"/>
            <a:ext cx="2377440" cy="2377440"/>
          </a:xfrm>
          <a:prstGeom prst="ellipse">
            <a:avLst/>
          </a:prstGeom>
          <a:solidFill>
            <a:srgbClr val="1C1714"/>
          </a:solidFill>
          <a:ln w="12700">
            <a:solidFill>
              <a:srgbClr val="C8912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84080" y="2651760"/>
            <a:ext cx="1645920" cy="1645920"/>
          </a:xfrm>
          <a:prstGeom prst="ellipse">
            <a:avLst/>
          </a:prstGeom>
          <a:solidFill>
            <a:srgbClr val="1C1714"/>
          </a:solidFill>
          <a:ln w="12700">
            <a:solidFill>
              <a:srgbClr val="C8912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23774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E3B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Y DISCUSIÓN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74320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70332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9D0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reproducible, calibraciones registradas con MLflow y todas las tablas de diagnóstico disponibles como anexo.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466344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3B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Víctor Tablas  |  Economista y Data Scientist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38251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5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AB InBev  |  Marketing Mix Model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Marketing Mix Model - Resultados - Challenge AB InBev</dc:title>
  <dc:subject>PptxGenJS Presentation</dc:subject>
  <dc:creator>Victor Tablas</dc:creator>
  <cp:lastModifiedBy>Victor Tablas</cp:lastModifiedBy>
  <cp:revision>1</cp:revision>
  <dcterms:created xsi:type="dcterms:W3CDTF">2026-09-22T18:29:53Z</dcterms:created>
  <dcterms:modified xsi:type="dcterms:W3CDTF">2026-09-22T18:29:53Z</dcterms:modified>
</cp:coreProperties>
</file>